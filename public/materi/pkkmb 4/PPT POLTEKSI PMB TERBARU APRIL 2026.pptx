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8" r:id="rId4"/>
    <p:sldId id="265" r:id="rId5"/>
    <p:sldId id="259" r:id="rId6"/>
    <p:sldId id="269" r:id="rId7"/>
    <p:sldId id="277" r:id="rId8"/>
    <p:sldId id="263" r:id="rId9"/>
    <p:sldId id="264" r:id="rId10"/>
    <p:sldId id="271" r:id="rId11"/>
    <p:sldId id="275" r:id="rId12"/>
    <p:sldId id="276" r:id="rId13"/>
    <p:sldId id="278" r:id="rId14"/>
    <p:sldId id="261" r:id="rId15"/>
  </p:sldIdLst>
  <p:sldSz cx="12192000" cy="6858000"/>
  <p:notesSz cx="6858000" cy="9144000"/>
  <p:embeddedFontLst>
    <p:embeddedFont>
      <p:font typeface="Contrail One" panose="02000000000000000000" pitchFamily="2" charset="7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70F09"/>
    <a:srgbClr val="07A1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10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4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88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74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15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1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89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095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823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443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32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012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24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24758F-F73F-45EA-B77B-4E6214C2DE9C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FD51F2-3E3E-4AFD-B2E2-6926A133A7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418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6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8521" y="-13447"/>
            <a:ext cx="5313480" cy="6858000"/>
          </a:xfrm>
          <a:prstGeom prst="rect">
            <a:avLst/>
          </a:prstGeom>
        </p:spPr>
      </p:pic>
      <p:sp>
        <p:nvSpPr>
          <p:cNvPr id="15" name="Subtitle 2"/>
          <p:cNvSpPr txBox="1">
            <a:spLocks/>
          </p:cNvSpPr>
          <p:nvPr/>
        </p:nvSpPr>
        <p:spPr>
          <a:xfrm>
            <a:off x="1998919" y="5229360"/>
            <a:ext cx="4879602" cy="4750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F70F09"/>
                </a:solidFill>
                <a:latin typeface="Contrail One" panose="02000000000000000000" pitchFamily="2" charset="0"/>
              </a:rPr>
              <a:t>P</a:t>
            </a:r>
            <a:r>
              <a:rPr lang="id-ID" sz="2800" b="1" dirty="0">
                <a:solidFill>
                  <a:srgbClr val="F70F09"/>
                </a:solidFill>
                <a:latin typeface="Contrail One" panose="02000000000000000000" pitchFamily="2" charset="0"/>
              </a:rPr>
              <a:t>OLITEKNIK SEMEN INDONESIA</a:t>
            </a:r>
            <a:endParaRPr lang="en-US" sz="2800" b="1" dirty="0">
              <a:solidFill>
                <a:srgbClr val="F70F09"/>
              </a:solidFill>
              <a:latin typeface="Contrail One" panose="02000000000000000000" pitchFamily="2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pic>
        <p:nvPicPr>
          <p:cNvPr id="1026" name="Picture 2" descr="Kampus Merdeka - Institut Teknologi Sepuluh Nopember">
            <a:extLst>
              <a:ext uri="{FF2B5EF4-FFF2-40B4-BE49-F238E27FC236}">
                <a16:creationId xmlns:a16="http://schemas.microsoft.com/office/drawing/2014/main" id="{E8957D95-F9D8-4228-A3FE-355B9AFC1F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889" y="326572"/>
            <a:ext cx="930087" cy="4966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Logo Ban-PT Vector Cdr &amp;amp; Png HD | GUDRIL LOGO | Tempat-nya Download logo CDR">
            <a:extLst>
              <a:ext uri="{FF2B5EF4-FFF2-40B4-BE49-F238E27FC236}">
                <a16:creationId xmlns:a16="http://schemas.microsoft.com/office/drawing/2014/main" id="{7C7C2AB5-9E46-4F14-92F5-09E5DBF63A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0976" y="146907"/>
            <a:ext cx="835176" cy="6263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120" y="0"/>
            <a:ext cx="970801" cy="970801"/>
          </a:xfrm>
          <a:prstGeom prst="rect">
            <a:avLst/>
          </a:prstGeom>
        </p:spPr>
      </p:pic>
      <p:pic>
        <p:nvPicPr>
          <p:cNvPr id="4" name="Picture 2" descr="Berkas:Logo-APERTI-BUMN.png - Wikipedia bahasa Indonesia, ensiklopedia beba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1721" y="193683"/>
            <a:ext cx="2081583" cy="616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166" y="2192770"/>
            <a:ext cx="6179889" cy="2846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31124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668586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908488" y="1315616"/>
            <a:ext cx="5760098" cy="93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78307" y="180554"/>
            <a:ext cx="5203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200" dirty="0">
                <a:solidFill>
                  <a:srgbClr val="002060"/>
                </a:solidFill>
                <a:latin typeface="Contrail One" panose="02000000000000000000" pitchFamily="2" charset="0"/>
              </a:rPr>
              <a:t>Profile Singkat</a:t>
            </a:r>
            <a:endParaRPr lang="en-US" sz="3200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 flipV="1">
            <a:off x="6668586" y="5291623"/>
            <a:ext cx="5523414" cy="933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19494" y="-21861"/>
            <a:ext cx="1172504" cy="1172504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3" t="4273" r="4990"/>
          <a:stretch/>
        </p:blipFill>
        <p:spPr>
          <a:xfrm>
            <a:off x="925156" y="6311684"/>
            <a:ext cx="5743429" cy="389201"/>
          </a:xfrm>
          <a:prstGeom prst="rect">
            <a:avLst/>
          </a:prstGeom>
        </p:spPr>
      </p:pic>
      <p:pic>
        <p:nvPicPr>
          <p:cNvPr id="16" name="Picture 15" descr="Home - SIG Foundatio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4804" y="962060"/>
            <a:ext cx="3119951" cy="2700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Curved Arrow Black PNG Transparent Background, Free Download #12453 -  FreeIcons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9210" y="2110600"/>
            <a:ext cx="925507" cy="933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0544" y="1505797"/>
            <a:ext cx="3071276" cy="3071276"/>
          </a:xfrm>
          <a:prstGeom prst="rect">
            <a:avLst/>
          </a:prstGeom>
        </p:spPr>
      </p:pic>
      <p:pic>
        <p:nvPicPr>
          <p:cNvPr id="27" name="Picture 8" descr="Home - SIG Foundation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967" y="3028257"/>
            <a:ext cx="1365838" cy="1365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0" descr="Beranda - SMP SEMEN GRESIK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08" r="63333" b="33033"/>
          <a:stretch/>
        </p:blipFill>
        <p:spPr bwMode="auto">
          <a:xfrm>
            <a:off x="3135577" y="3655361"/>
            <a:ext cx="1347016" cy="11615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2" descr="SMASG - SIG Foundation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8358" y="3742410"/>
            <a:ext cx="1224003" cy="122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4" descr="SMKSG - SIG Foundation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8125" y="3116550"/>
            <a:ext cx="1324150" cy="1324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 descr="Download Red Circle Png - Red Pen Circle Png PNG Image with No Background -  PNGkey.com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4118" y="1352738"/>
            <a:ext cx="5812350" cy="36610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0" descr="15 ide Png Tanda panah | tanda panah, panah, 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497277">
            <a:off x="6084342" y="1860782"/>
            <a:ext cx="774659" cy="1061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Berkas:Semen Indonesia logo (2013-2019).svg - Wikipedia ...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724" y="741647"/>
            <a:ext cx="1664795" cy="128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18" descr="Download Red Circle Png - Red Pen Circle Png PNG Image with No Background -  PNGkey.com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906" y="670931"/>
            <a:ext cx="2475535" cy="1559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34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04" b="1"/>
          <a:stretch/>
        </p:blipFill>
        <p:spPr>
          <a:xfrm>
            <a:off x="7429614" y="4816944"/>
            <a:ext cx="4001359" cy="144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35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B2EB8-B5C5-CB4D-E16A-C2C52CC151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4902B0-18E9-FE65-F08F-15B823EC69FA}"/>
              </a:ext>
            </a:extLst>
          </p:cNvPr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3DB8081-6A4E-5848-7C21-A2C37E201C06}"/>
              </a:ext>
            </a:extLst>
          </p:cNvPr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3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9BA28F-4562-79E1-9717-956B51BE28CC}"/>
              </a:ext>
            </a:extLst>
          </p:cNvPr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D12E0C8-D986-4ED5-C2F7-2B9ED808D60C}"/>
              </a:ext>
            </a:extLst>
          </p:cNvPr>
          <p:cNvCxnSpPr/>
          <p:nvPr/>
        </p:nvCxnSpPr>
        <p:spPr>
          <a:xfrm>
            <a:off x="6668586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E37BCF8-7179-BB97-92FA-F1346ABF731E}"/>
              </a:ext>
            </a:extLst>
          </p:cNvPr>
          <p:cNvCxnSpPr/>
          <p:nvPr/>
        </p:nvCxnSpPr>
        <p:spPr>
          <a:xfrm flipH="1" flipV="1">
            <a:off x="908488" y="1315616"/>
            <a:ext cx="5760098" cy="93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0066679-2B14-DB49-B9C9-9F4491F86FE0}"/>
              </a:ext>
            </a:extLst>
          </p:cNvPr>
          <p:cNvCxnSpPr/>
          <p:nvPr/>
        </p:nvCxnSpPr>
        <p:spPr>
          <a:xfrm flipH="1" flipV="1">
            <a:off x="6668586" y="5291623"/>
            <a:ext cx="5523414" cy="933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657C4307-A388-7D8D-F5D3-FC535F80C7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1027" y="292611"/>
            <a:ext cx="1418560" cy="141856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805C7F-A107-2D83-5260-354A8225D5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79"/>
          <a:stretch>
            <a:fillRect/>
          </a:stretch>
        </p:blipFill>
        <p:spPr>
          <a:xfrm>
            <a:off x="913725" y="-11430"/>
            <a:ext cx="5743425" cy="6858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27198F0-2A55-6FD4-67F5-BC9DF4DFB20D}"/>
              </a:ext>
            </a:extLst>
          </p:cNvPr>
          <p:cNvSpPr txBox="1"/>
          <p:nvPr/>
        </p:nvSpPr>
        <p:spPr>
          <a:xfrm>
            <a:off x="7167494" y="1861735"/>
            <a:ext cx="452559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002060"/>
                </a:solidFill>
                <a:latin typeface="Contrail One" panose="02000000000000000000" pitchFamily="2" charset="0"/>
              </a:rPr>
              <a:t>KAMPUS POLITEKNIK </a:t>
            </a:r>
          </a:p>
          <a:p>
            <a:pPr algn="ctr"/>
            <a:r>
              <a:rPr lang="en-US" sz="4400" dirty="0">
                <a:solidFill>
                  <a:srgbClr val="002060"/>
                </a:solidFill>
                <a:latin typeface="Contrail One" panose="02000000000000000000" pitchFamily="2" charset="0"/>
              </a:rPr>
              <a:t>DI KOTA INDUSTRI</a:t>
            </a:r>
          </a:p>
        </p:txBody>
      </p:sp>
      <p:sp>
        <p:nvSpPr>
          <p:cNvPr id="26" name="object 10">
            <a:extLst>
              <a:ext uri="{FF2B5EF4-FFF2-40B4-BE49-F238E27FC236}">
                <a16:creationId xmlns:a16="http://schemas.microsoft.com/office/drawing/2014/main" id="{C0DF6B54-0078-CFE5-F8AF-E1514EDC8BCC}"/>
              </a:ext>
            </a:extLst>
          </p:cNvPr>
          <p:cNvSpPr txBox="1"/>
          <p:nvPr/>
        </p:nvSpPr>
        <p:spPr>
          <a:xfrm>
            <a:off x="7486665" y="3694509"/>
            <a:ext cx="3631642" cy="695062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40"/>
              </a:spcBef>
            </a:pPr>
            <a:r>
              <a:rPr sz="4400" dirty="0">
                <a:solidFill>
                  <a:srgbClr val="FF0000"/>
                </a:solidFill>
                <a:latin typeface="Calibri"/>
                <a:cs typeface="Calibri"/>
              </a:rPr>
              <a:t>“</a:t>
            </a:r>
            <a:r>
              <a:rPr lang="en-US" sz="4400" dirty="0">
                <a:solidFill>
                  <a:srgbClr val="FF0000"/>
                </a:solidFill>
                <a:latin typeface="Calibri"/>
                <a:cs typeface="Calibri"/>
              </a:rPr>
              <a:t>PASTI</a:t>
            </a:r>
            <a:r>
              <a:rPr sz="44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4400" spc="-10" dirty="0">
                <a:solidFill>
                  <a:srgbClr val="FF0000"/>
                </a:solidFill>
                <a:latin typeface="Calibri"/>
                <a:cs typeface="Calibri"/>
              </a:rPr>
              <a:t>KERJA</a:t>
            </a:r>
            <a:r>
              <a:rPr sz="4400" spc="-10" dirty="0">
                <a:solidFill>
                  <a:srgbClr val="FF0000"/>
                </a:solidFill>
                <a:latin typeface="Calibri"/>
                <a:cs typeface="Calibri"/>
              </a:rPr>
              <a:t>!!”</a:t>
            </a:r>
            <a:endParaRPr sz="440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FB4B4F1-4515-4281-7971-67D282EB08BD}"/>
              </a:ext>
            </a:extLst>
          </p:cNvPr>
          <p:cNvSpPr txBox="1"/>
          <p:nvPr/>
        </p:nvSpPr>
        <p:spPr>
          <a:xfrm>
            <a:off x="8059197" y="4332766"/>
            <a:ext cx="248657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Contrail One" panose="02000000000000000000" pitchFamily="2" charset="0"/>
              </a:rPr>
              <a:t>#Dekat Industri Dekat </a:t>
            </a:r>
            <a:r>
              <a:rPr lang="en-US" sz="1600" dirty="0" err="1">
                <a:solidFill>
                  <a:srgbClr val="002060"/>
                </a:solidFill>
                <a:latin typeface="Contrail One" panose="02000000000000000000" pitchFamily="2" charset="0"/>
              </a:rPr>
              <a:t>Karir</a:t>
            </a:r>
            <a:endParaRPr lang="en-US" sz="1600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962285"/>
      </p:ext>
    </p:extLst>
  </p:cSld>
  <p:clrMapOvr>
    <a:masterClrMapping/>
  </p:clrMapOvr>
  <p:transition spd="slow">
    <p:push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5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668586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908488" y="1163173"/>
            <a:ext cx="5760098" cy="93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 flipH="1" flipV="1">
            <a:off x="6668586" y="5291623"/>
            <a:ext cx="5523414" cy="933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object 8">
            <a:extLst>
              <a:ext uri="{FF2B5EF4-FFF2-40B4-BE49-F238E27FC236}">
                <a16:creationId xmlns:a16="http://schemas.microsoft.com/office/drawing/2014/main" id="{FCC0EBF9-CC88-C32D-E17E-1C6944817876}"/>
              </a:ext>
            </a:extLst>
          </p:cNvPr>
          <p:cNvPicPr/>
          <p:nvPr/>
        </p:nvPicPr>
        <p:blipFill>
          <a:blip r:embed="rId2" cstate="print"/>
          <a:srcRect l="515"/>
          <a:stretch>
            <a:fillRect/>
          </a:stretch>
        </p:blipFill>
        <p:spPr>
          <a:xfrm>
            <a:off x="895960" y="1"/>
            <a:ext cx="5715474" cy="6844296"/>
          </a:xfrm>
          <a:prstGeom prst="rect">
            <a:avLst/>
          </a:prstGeom>
        </p:spPr>
      </p:pic>
      <p:pic>
        <p:nvPicPr>
          <p:cNvPr id="3" name="object 7">
            <a:extLst>
              <a:ext uri="{FF2B5EF4-FFF2-40B4-BE49-F238E27FC236}">
                <a16:creationId xmlns:a16="http://schemas.microsoft.com/office/drawing/2014/main" id="{27D1348C-62AF-2C38-986E-AC6D7FC49A76}"/>
              </a:ext>
            </a:extLst>
          </p:cNvPr>
          <p:cNvPicPr/>
          <p:nvPr/>
        </p:nvPicPr>
        <p:blipFill>
          <a:blip r:embed="rId3" cstate="print"/>
          <a:srcRect l="2467" r="3149"/>
          <a:stretch>
            <a:fillRect/>
          </a:stretch>
        </p:blipFill>
        <p:spPr>
          <a:xfrm>
            <a:off x="6685253" y="0"/>
            <a:ext cx="5506747" cy="6844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9652652"/>
      </p:ext>
    </p:extLst>
  </p:cSld>
  <p:clrMapOvr>
    <a:masterClrMapping/>
  </p:clrMapOvr>
  <p:transition spd="slow">
    <p:push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381" y="172363"/>
            <a:ext cx="10287001" cy="1047081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R="5080">
              <a:spcBef>
                <a:spcPts val="484"/>
              </a:spcBef>
            </a:pPr>
            <a:r>
              <a:rPr lang="en-US" sz="3200" b="1" dirty="0">
                <a:latin typeface="Calibri"/>
                <a:cs typeface="Calibri"/>
              </a:rPr>
              <a:t>AFILIASI </a:t>
            </a:r>
            <a:r>
              <a:rPr sz="3200" b="1" dirty="0">
                <a:latin typeface="Calibri"/>
                <a:cs typeface="Calibri"/>
              </a:rPr>
              <a:t>MITRA</a:t>
            </a:r>
            <a:r>
              <a:rPr sz="3200" b="1" spc="-114" dirty="0">
                <a:latin typeface="Calibri"/>
                <a:cs typeface="Calibri"/>
              </a:rPr>
              <a:t> </a:t>
            </a:r>
            <a:r>
              <a:rPr sz="3200" b="1" dirty="0">
                <a:latin typeface="Calibri"/>
                <a:cs typeface="Calibri"/>
              </a:rPr>
              <a:t>PERUSAHAAN</a:t>
            </a:r>
            <a:r>
              <a:rPr sz="3200" b="1" spc="-55" dirty="0">
                <a:latin typeface="Calibri"/>
                <a:cs typeface="Calibri"/>
              </a:rPr>
              <a:t> </a:t>
            </a:r>
            <a:r>
              <a:rPr sz="3200" b="1" spc="-60" dirty="0">
                <a:latin typeface="Calibri"/>
                <a:cs typeface="Calibri"/>
              </a:rPr>
              <a:t>&amp; </a:t>
            </a:r>
            <a:r>
              <a:rPr sz="3200" b="1" spc="-30" dirty="0">
                <a:latin typeface="Calibri"/>
                <a:cs typeface="Calibri"/>
              </a:rPr>
              <a:t>INSTANSI</a:t>
            </a:r>
            <a:r>
              <a:rPr sz="3200" b="1" spc="-110" dirty="0">
                <a:latin typeface="Calibri"/>
                <a:cs typeface="Calibri"/>
              </a:rPr>
              <a:t> </a:t>
            </a:r>
            <a:r>
              <a:rPr lang="en-US" sz="3200" b="1" spc="-110" dirty="0">
                <a:latin typeface="Calibri"/>
                <a:cs typeface="Calibri"/>
              </a:rPr>
              <a:t>DENGAN </a:t>
            </a:r>
            <a:r>
              <a:rPr sz="3200" b="1" spc="-10" dirty="0">
                <a:latin typeface="Calibri"/>
                <a:cs typeface="Calibri"/>
              </a:rPr>
              <a:t>POLTEKSI</a:t>
            </a:r>
            <a:r>
              <a:rPr lang="en-US" sz="3200" b="1" spc="-10" dirty="0">
                <a:latin typeface="Calibri"/>
                <a:cs typeface="Calibri"/>
              </a:rPr>
              <a:t>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208" y="3792210"/>
            <a:ext cx="254635" cy="2726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#KAMPUSBERBASISINDUSTRI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15220A4-B64B-3374-CFF1-7FEA97C3BA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066801"/>
            <a:ext cx="8779069" cy="566478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259A2D4-C318-EA87-1C48-75E22189C31A}"/>
              </a:ext>
            </a:extLst>
          </p:cNvPr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4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C4AFAC-8A49-8E30-E3E4-66F62D2613FD}"/>
              </a:ext>
            </a:extLst>
          </p:cNvPr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AF0BB-50FD-7C42-4933-B9BBF259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0581006-8205-5850-3301-D303B02C9460}"/>
              </a:ext>
            </a:extLst>
          </p:cNvPr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7D19426-D355-02A1-E623-C4C8284E1928}"/>
              </a:ext>
            </a:extLst>
          </p:cNvPr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6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ADB9E1-543F-99F7-4860-A2BEF1E7D7B7}"/>
              </a:ext>
            </a:extLst>
          </p:cNvPr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250C250-8B8F-162E-8598-7F18231A9037}"/>
              </a:ext>
            </a:extLst>
          </p:cNvPr>
          <p:cNvCxnSpPr/>
          <p:nvPr/>
        </p:nvCxnSpPr>
        <p:spPr>
          <a:xfrm>
            <a:off x="6668586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23A43FA-4D60-6D3B-82C4-698F796B5D1D}"/>
              </a:ext>
            </a:extLst>
          </p:cNvPr>
          <p:cNvCxnSpPr/>
          <p:nvPr/>
        </p:nvCxnSpPr>
        <p:spPr>
          <a:xfrm flipH="1" flipV="1">
            <a:off x="908488" y="929939"/>
            <a:ext cx="5760098" cy="93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73F05683-42C3-291D-2CBE-50006A832160}"/>
              </a:ext>
            </a:extLst>
          </p:cNvPr>
          <p:cNvSpPr txBox="1"/>
          <p:nvPr/>
        </p:nvSpPr>
        <p:spPr>
          <a:xfrm>
            <a:off x="913920" y="161249"/>
            <a:ext cx="52031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solidFill>
                  <a:srgbClr val="002060"/>
                </a:solidFill>
                <a:latin typeface="Contrail One" panose="02000000000000000000" pitchFamily="2" charset="0"/>
              </a:rPr>
              <a:t>PROGRAM STUDI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50248E7-4B4D-AD89-7518-DE9B06243A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3875" y="-67748"/>
            <a:ext cx="1472119" cy="1472119"/>
          </a:xfrm>
          <a:prstGeom prst="rect">
            <a:avLst/>
          </a:prstGeom>
        </p:spPr>
      </p:pic>
      <p:pic>
        <p:nvPicPr>
          <p:cNvPr id="2" name="object 6">
            <a:extLst>
              <a:ext uri="{FF2B5EF4-FFF2-40B4-BE49-F238E27FC236}">
                <a16:creationId xmlns:a16="http://schemas.microsoft.com/office/drawing/2014/main" id="{88717101-2939-2367-138C-3EDC59AAE52B}"/>
              </a:ext>
            </a:extLst>
          </p:cNvPr>
          <p:cNvPicPr/>
          <p:nvPr/>
        </p:nvPicPr>
        <p:blipFill>
          <a:blip r:embed="rId3" cstate="print"/>
          <a:srcRect l="1581" r="50744"/>
          <a:stretch>
            <a:fillRect/>
          </a:stretch>
        </p:blipFill>
        <p:spPr>
          <a:xfrm>
            <a:off x="913726" y="927840"/>
            <a:ext cx="5754849" cy="5918730"/>
          </a:xfrm>
          <a:prstGeom prst="rect">
            <a:avLst/>
          </a:prstGeom>
        </p:spPr>
      </p:pic>
      <p:sp>
        <p:nvSpPr>
          <p:cNvPr id="5" name="Quad Arrow 4">
            <a:extLst>
              <a:ext uri="{FF2B5EF4-FFF2-40B4-BE49-F238E27FC236}">
                <a16:creationId xmlns:a16="http://schemas.microsoft.com/office/drawing/2014/main" id="{868C8FAB-E952-638F-58DB-B88E75823DBF}"/>
              </a:ext>
            </a:extLst>
          </p:cNvPr>
          <p:cNvSpPr/>
          <p:nvPr/>
        </p:nvSpPr>
        <p:spPr>
          <a:xfrm>
            <a:off x="8619081" y="3100710"/>
            <a:ext cx="1516913" cy="1351366"/>
          </a:xfrm>
          <a:prstGeom prst="quadArrow">
            <a:avLst/>
          </a:prstGeom>
          <a:solidFill>
            <a:srgbClr val="F70F09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C06FA0-2623-EBD8-62AE-167D0D0DA43C}"/>
              </a:ext>
            </a:extLst>
          </p:cNvPr>
          <p:cNvSpPr txBox="1"/>
          <p:nvPr/>
        </p:nvSpPr>
        <p:spPr>
          <a:xfrm>
            <a:off x="6226088" y="3218832"/>
            <a:ext cx="28369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TEKNOLOGI </a:t>
            </a:r>
          </a:p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MESIN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CC3CD4-B4C8-696C-06C4-DAD681308CD7}"/>
              </a:ext>
            </a:extLst>
          </p:cNvPr>
          <p:cNvSpPr txBox="1"/>
          <p:nvPr/>
        </p:nvSpPr>
        <p:spPr>
          <a:xfrm>
            <a:off x="7848822" y="4642854"/>
            <a:ext cx="28369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TEKNOLOGI </a:t>
            </a:r>
          </a:p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INFORMASI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E92AFA-C591-708C-3B72-6701E2A46F8C}"/>
              </a:ext>
            </a:extLst>
          </p:cNvPr>
          <p:cNvSpPr txBox="1"/>
          <p:nvPr/>
        </p:nvSpPr>
        <p:spPr>
          <a:xfrm>
            <a:off x="7922390" y="1867110"/>
            <a:ext cx="28369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ADMINISTRASI</a:t>
            </a:r>
          </a:p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PERKANTORAN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BCC0627-BF7C-DF22-F35F-6DE9387938FC}"/>
              </a:ext>
            </a:extLst>
          </p:cNvPr>
          <p:cNvSpPr txBox="1"/>
          <p:nvPr/>
        </p:nvSpPr>
        <p:spPr>
          <a:xfrm>
            <a:off x="9758798" y="3421134"/>
            <a:ext cx="28369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AKUNTANSI</a:t>
            </a:r>
          </a:p>
        </p:txBody>
      </p:sp>
    </p:spTree>
    <p:extLst>
      <p:ext uri="{BB962C8B-B14F-4D97-AF65-F5344CB8AC3E}">
        <p14:creationId xmlns:p14="http://schemas.microsoft.com/office/powerpoint/2010/main" val="2802969617"/>
      </p:ext>
    </p:extLst>
  </p:cSld>
  <p:clrMapOvr>
    <a:masterClrMapping/>
  </p:clrMapOvr>
  <p:transition spd="slow">
    <p:push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D01F-E314-4476-9158-47989301F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13AA9-9882-4B5B-AEBF-80BD09BFE6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37B978-1944-4BBB-92F9-892274349F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217" y="0"/>
            <a:ext cx="54864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08CE7A-AF7D-47D9-B46B-D7308D823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13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0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7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2" name="Straight Connector 21"/>
          <p:cNvCxnSpPr>
            <a:cxnSpLocks/>
          </p:cNvCxnSpPr>
          <p:nvPr/>
        </p:nvCxnSpPr>
        <p:spPr>
          <a:xfrm flipH="1">
            <a:off x="908488" y="1104596"/>
            <a:ext cx="11283512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95275" y="338199"/>
            <a:ext cx="5203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dirty="0">
                <a:solidFill>
                  <a:srgbClr val="002060"/>
                </a:solidFill>
                <a:latin typeface="Contrail One" panose="02000000000000000000" pitchFamily="2" charset="0"/>
              </a:rPr>
              <a:t>JALUR MASUK POLTEKSI </a:t>
            </a:r>
            <a:endParaRPr lang="en-US" sz="3600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7768A72-2B75-48A7-9F54-A880F6785087}"/>
              </a:ext>
            </a:extLst>
          </p:cNvPr>
          <p:cNvSpPr txBox="1"/>
          <p:nvPr/>
        </p:nvSpPr>
        <p:spPr>
          <a:xfrm>
            <a:off x="1034681" y="1231061"/>
            <a:ext cx="8546161" cy="5755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Jalur Reguler Tanpa Tes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Jalur Prestasi </a:t>
            </a:r>
            <a:r>
              <a:rPr lang="id-ID" sz="2800" b="1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(</a:t>
            </a:r>
            <a:r>
              <a:rPr lang="id-ID" sz="2800" b="1" dirty="0" err="1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Raport</a:t>
            </a:r>
            <a:r>
              <a:rPr lang="id-ID" sz="2800" b="1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, Akademik</a:t>
            </a:r>
            <a:r>
              <a:rPr lang="id-ID" sz="2800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 </a:t>
            </a:r>
            <a:r>
              <a:rPr lang="id-ID" sz="2800" b="1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Non Akademik)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Jalur Kemitraan </a:t>
            </a:r>
            <a:r>
              <a:rPr lang="id-ID" sz="2800" b="1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(Afiliasi SIG, Mitra Sekolah, </a:t>
            </a:r>
            <a:r>
              <a:rPr lang="id-ID" sz="2800" b="1" dirty="0" err="1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Osis</a:t>
            </a:r>
            <a:r>
              <a:rPr lang="id-ID" sz="2800" b="1" dirty="0">
                <a:solidFill>
                  <a:srgbClr val="FFC00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, Putra/i Guru)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B0604020202020204" charset="0"/>
              </a:rPr>
              <a:t>Jalur </a:t>
            </a:r>
            <a:r>
              <a:rPr lang="en-US" sz="2800" b="1" dirty="0">
                <a:latin typeface="Contrail One" panose="020B0604020202020204" charset="0"/>
              </a:rPr>
              <a:t>Kartu SNBP/SNBT</a:t>
            </a:r>
          </a:p>
          <a:p>
            <a:pPr>
              <a:lnSpc>
                <a:spcPct val="120000"/>
              </a:lnSpc>
            </a:pPr>
            <a:endParaRPr lang="en-US" sz="2800" b="1" dirty="0">
              <a:latin typeface="Contrail One" panose="020B0604020202020204" charset="0"/>
            </a:endParaRPr>
          </a:p>
          <a:p>
            <a:pPr>
              <a:lnSpc>
                <a:spcPct val="120000"/>
              </a:lnSpc>
            </a:pPr>
            <a:r>
              <a:rPr lang="en-US" sz="2800" b="1" dirty="0">
                <a:ln w="22225">
                  <a:noFill/>
                  <a:prstDash val="solid"/>
                </a:ln>
                <a:solidFill>
                  <a:srgbClr val="FF0000"/>
                </a:solidFill>
                <a:latin typeface="Contrail One" panose="020B0604020202020204" charset="0"/>
              </a:rPr>
              <a:t>BEASISWA :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Jalur </a:t>
            </a:r>
            <a:r>
              <a:rPr lang="id-ID" sz="2800" b="1" dirty="0" err="1">
                <a:latin typeface="Contrail One" panose="02000000000000000000" pitchFamily="2" charset="0"/>
                <a:cs typeface="Arial" panose="020B0604020202020204" pitchFamily="34" charset="0"/>
              </a:rPr>
              <a:t>Aperti</a:t>
            </a: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 BUMN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id-ID" sz="2800" b="1" dirty="0">
                <a:latin typeface="Contrail One" panose="02000000000000000000" pitchFamily="2" charset="0"/>
                <a:cs typeface="Arial" panose="020B0604020202020204" pitchFamily="34" charset="0"/>
              </a:rPr>
              <a:t>Jalur KIP-Kuliah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latin typeface="Contrail One" panose="020B0604020202020204" charset="0"/>
              </a:rPr>
              <a:t>Jalur </a:t>
            </a:r>
            <a:r>
              <a:rPr lang="en-US" sz="2800" b="1" dirty="0" err="1">
                <a:latin typeface="Contrail One" panose="020B0604020202020204" charset="0"/>
              </a:rPr>
              <a:t>Beasiswa</a:t>
            </a:r>
            <a:r>
              <a:rPr lang="en-US" sz="2800" b="1" dirty="0">
                <a:latin typeface="Contrail One" panose="020B0604020202020204" charset="0"/>
              </a:rPr>
              <a:t> Kerjasama Industri</a:t>
            </a: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endParaRPr lang="en-US" sz="2800" b="1" dirty="0">
              <a:solidFill>
                <a:srgbClr val="002060"/>
              </a:solidFill>
              <a:latin typeface="Contrail One" panose="020B060402020202020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3764" y="-49610"/>
            <a:ext cx="1189379" cy="11893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94FC798-996C-71CB-644F-1E34F90573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99442" l="9596" r="94949">
                        <a14:foregroundMark x1="41919" y1="11896" x2="55051" y2="0"/>
                        <a14:foregroundMark x1="96454" y1="70093" x2="96970" y2="71933"/>
                        <a14:foregroundMark x1="88636" y1="42193" x2="96123" y2="68911"/>
                        <a14:foregroundMark x1="96970" y1="71933" x2="92317" y2="83296"/>
                        <a14:foregroundMark x1="94790" y1="98816" x2="94949" y2="99442"/>
                        <a14:foregroundMark x1="94949" y1="99442" x2="94949" y2="99442"/>
                        <a14:backgroundMark x1="94192" y1="72119" x2="96465" y2="70074"/>
                        <a14:backgroundMark x1="94949" y1="73234" x2="96465" y2="70632"/>
                        <a14:backgroundMark x1="90909" y1="83457" x2="94192" y2="98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508" y="1650375"/>
            <a:ext cx="3833122" cy="52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352936"/>
      </p:ext>
    </p:extLst>
  </p:cSld>
  <p:clrMapOvr>
    <a:masterClrMapping/>
  </p:clrMapOvr>
  <p:transition spd="slow">
    <p:push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19028" y="338199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08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1" name="Straight Connector 20"/>
          <p:cNvCxnSpPr/>
          <p:nvPr/>
        </p:nvCxnSpPr>
        <p:spPr>
          <a:xfrm>
            <a:off x="6668586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908488" y="1315616"/>
            <a:ext cx="5760098" cy="9331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/>
          <a:srcRect l="64435" t="75311" r="11055" b="8948"/>
          <a:stretch/>
        </p:blipFill>
        <p:spPr>
          <a:xfrm>
            <a:off x="3739414" y="2000569"/>
            <a:ext cx="3099653" cy="11192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943757" y="485732"/>
            <a:ext cx="56544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3600" dirty="0">
                <a:solidFill>
                  <a:srgbClr val="002060"/>
                </a:solidFill>
                <a:latin typeface="Contrail One" panose="02000000000000000000" pitchFamily="2" charset="0"/>
              </a:rPr>
              <a:t>PENDAFTARAN MAHASISWA BARU </a:t>
            </a:r>
            <a:endParaRPr lang="en-US" sz="3600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 flipV="1">
            <a:off x="6668586" y="1320282"/>
            <a:ext cx="5523414" cy="933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66311" t="25570" r="10773" b="25306"/>
          <a:stretch/>
        </p:blipFill>
        <p:spPr>
          <a:xfrm>
            <a:off x="7009547" y="522865"/>
            <a:ext cx="5149017" cy="62056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20" y="930062"/>
            <a:ext cx="4423792" cy="579842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185" y="30958"/>
            <a:ext cx="1189379" cy="1189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61101"/>
      </p:ext>
    </p:extLst>
  </p:cSld>
  <p:clrMapOvr>
    <a:masterClrMapping/>
  </p:clrMapOvr>
  <p:transition spd="slow">
    <p:push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88935" y="795779"/>
            <a:ext cx="4690872" cy="606221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49223" y="4571"/>
            <a:ext cx="11540109" cy="6853555"/>
            <a:chOff x="649223" y="4571"/>
            <a:chExt cx="11540109" cy="6853555"/>
          </a:xfrm>
        </p:grpSpPr>
        <p:sp>
          <p:nvSpPr>
            <p:cNvPr id="4" name="object 4"/>
            <p:cNvSpPr/>
            <p:nvPr/>
          </p:nvSpPr>
          <p:spPr>
            <a:xfrm>
              <a:off x="903478" y="4571"/>
              <a:ext cx="5773420" cy="6853555"/>
            </a:xfrm>
            <a:custGeom>
              <a:avLst/>
              <a:gdLst/>
              <a:ahLst/>
              <a:cxnLst/>
              <a:rect l="l" t="t" r="r" b="b"/>
              <a:pathLst>
                <a:path w="5773420" h="6853555">
                  <a:moveTo>
                    <a:pt x="12700" y="0"/>
                  </a:moveTo>
                  <a:lnTo>
                    <a:pt x="0" y="0"/>
                  </a:lnTo>
                  <a:lnTo>
                    <a:pt x="0" y="6853428"/>
                  </a:lnTo>
                  <a:lnTo>
                    <a:pt x="12700" y="6853428"/>
                  </a:lnTo>
                  <a:lnTo>
                    <a:pt x="12700" y="0"/>
                  </a:lnTo>
                  <a:close/>
                </a:path>
                <a:path w="5773420" h="6853555">
                  <a:moveTo>
                    <a:pt x="5773420" y="0"/>
                  </a:moveTo>
                  <a:lnTo>
                    <a:pt x="5760720" y="0"/>
                  </a:lnTo>
                  <a:lnTo>
                    <a:pt x="5760720" y="6853428"/>
                  </a:lnTo>
                  <a:lnTo>
                    <a:pt x="5773420" y="6853428"/>
                  </a:lnTo>
                  <a:lnTo>
                    <a:pt x="5773420" y="0"/>
                  </a:lnTo>
                  <a:close/>
                </a:path>
              </a:pathLst>
            </a:custGeom>
            <a:solidFill>
              <a:srgbClr val="D0CEC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909827" y="1321688"/>
              <a:ext cx="11279505" cy="9525"/>
            </a:xfrm>
            <a:custGeom>
              <a:avLst/>
              <a:gdLst/>
              <a:ahLst/>
              <a:cxnLst/>
              <a:rect l="l" t="t" r="r" b="b"/>
              <a:pathLst>
                <a:path w="11279505" h="9525">
                  <a:moveTo>
                    <a:pt x="5758688" y="9271"/>
                  </a:moveTo>
                  <a:lnTo>
                    <a:pt x="0" y="0"/>
                  </a:lnTo>
                </a:path>
                <a:path w="11279505" h="9525">
                  <a:moveTo>
                    <a:pt x="11279124" y="9264"/>
                  </a:moveTo>
                  <a:lnTo>
                    <a:pt x="5760720" y="0"/>
                  </a:lnTo>
                </a:path>
              </a:pathLst>
            </a:custGeom>
            <a:ln w="12700">
              <a:solidFill>
                <a:srgbClr val="D0CEC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63655" y="27393"/>
              <a:ext cx="1188720" cy="118901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9223" y="1161669"/>
              <a:ext cx="5733288" cy="368592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97878" y="353631"/>
            <a:ext cx="2635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id-ID" sz="1800" dirty="0">
                <a:solidFill>
                  <a:srgbClr val="002060"/>
                </a:solidFill>
                <a:latin typeface="Contrail One" panose="02000000000000000000" pitchFamily="2" charset="0"/>
                <a:cs typeface="Calibri"/>
              </a:rPr>
              <a:t>09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4208" y="3792210"/>
            <a:ext cx="254635" cy="272605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1810"/>
              </a:lnSpc>
            </a:pPr>
            <a:r>
              <a:rPr sz="1800" spc="-10" dirty="0">
                <a:solidFill>
                  <a:srgbClr val="001F5F"/>
                </a:solidFill>
                <a:latin typeface="Calibri"/>
                <a:cs typeface="Calibri"/>
              </a:rPr>
              <a:t>#KAMPUSBERBASISINDUSTRI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0633" y="5087374"/>
            <a:ext cx="4660492" cy="1248419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598930">
              <a:lnSpc>
                <a:spcPct val="100000"/>
              </a:lnSpc>
              <a:spcBef>
                <a:spcPts val="415"/>
              </a:spcBef>
            </a:pPr>
            <a:r>
              <a:rPr sz="2800" dirty="0">
                <a:solidFill>
                  <a:srgbClr val="001F5F"/>
                </a:solidFill>
                <a:latin typeface="Calibri"/>
                <a:cs typeface="Calibri"/>
              </a:rPr>
              <a:t>Formulir</a:t>
            </a:r>
            <a:r>
              <a:rPr sz="2800" spc="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Calibri"/>
                <a:cs typeface="Calibri"/>
              </a:rPr>
              <a:t>Pendaftaran</a:t>
            </a:r>
            <a:endParaRPr sz="28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+</a:t>
            </a:r>
            <a:r>
              <a:rPr sz="2400" spc="-3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Bonus</a:t>
            </a:r>
            <a:r>
              <a:rPr sz="2400" spc="1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Merchandise</a:t>
            </a:r>
            <a:r>
              <a:rPr sz="2400" spc="-3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untuk</a:t>
            </a:r>
            <a:r>
              <a:rPr sz="2400" spc="-25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1F5F"/>
                </a:solidFill>
                <a:latin typeface="Calibri"/>
                <a:cs typeface="Calibri"/>
              </a:rPr>
              <a:t>10</a:t>
            </a:r>
            <a:r>
              <a:rPr sz="2400" spc="2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pendaftar</a:t>
            </a:r>
            <a:r>
              <a:rPr sz="2400" spc="-50" dirty="0">
                <a:solidFill>
                  <a:srgbClr val="001F5F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1F5F"/>
                </a:solidFill>
                <a:latin typeface="Calibri"/>
                <a:cs typeface="Calibri"/>
              </a:rPr>
              <a:t>pertama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3313" y="1347914"/>
            <a:ext cx="3395345" cy="94678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Syarat: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ts val="2390"/>
              </a:lnSpc>
              <a:buChar char="-"/>
              <a:tabLst>
                <a:tab pos="355600" algn="l"/>
              </a:tabLst>
            </a:pPr>
            <a:r>
              <a:rPr sz="2000" spc="-20" dirty="0">
                <a:solidFill>
                  <a:srgbClr val="FF0000"/>
                </a:solidFill>
                <a:latin typeface="Calibri"/>
                <a:cs typeface="Calibri"/>
              </a:rPr>
              <a:t>Tunjukkan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Slide</a:t>
            </a:r>
            <a:r>
              <a:rPr sz="20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FF0000"/>
                </a:solidFill>
                <a:latin typeface="Calibri"/>
                <a:cs typeface="Calibri"/>
              </a:rPr>
              <a:t>ini</a:t>
            </a:r>
            <a:endParaRPr sz="20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5"/>
              </a:spcBef>
              <a:buChar char="-"/>
              <a:tabLst>
                <a:tab pos="355600" algn="l"/>
              </a:tabLst>
            </a:pP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Berlaku</a:t>
            </a:r>
            <a:r>
              <a:rPr sz="20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Sampai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Gelombang</a:t>
            </a:r>
            <a:r>
              <a:rPr sz="200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3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3859E85-CD44-0484-EB63-3AF618977B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48904" y="346956"/>
            <a:ext cx="5558241" cy="77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d-ID" sz="4800" dirty="0">
                <a:solidFill>
                  <a:srgbClr val="002060"/>
                </a:solidFill>
                <a:latin typeface="Contrail One" panose="02000000000000000000" pitchFamily="2" charset="0"/>
              </a:rPr>
              <a:t>PROMO EVENT INI...!!!</a:t>
            </a:r>
            <a:endParaRPr lang="en-US" sz="4800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8104B-71BB-44DE-8EE8-F5E3C4C99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ED2CA-40BE-42A0-A3F5-F7655ECB5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4B916-3C3B-4F3F-BFB8-6BB27C46D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0"/>
            <a:ext cx="54864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74F3692-B537-4EC6-9A37-673288FD1C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4590" y="0"/>
            <a:ext cx="5486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1678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900F4-0E10-43D4-B5FD-F67104209E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5D09AF-8314-4EA8-8C4E-CC52AF9B38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Explosion 2 5">
            <a:extLst>
              <a:ext uri="{FF2B5EF4-FFF2-40B4-BE49-F238E27FC236}">
                <a16:creationId xmlns:a16="http://schemas.microsoft.com/office/drawing/2014/main" id="{46568006-120E-DA72-965A-6C03C274D055}"/>
              </a:ext>
            </a:extLst>
          </p:cNvPr>
          <p:cNvSpPr/>
          <p:nvPr/>
        </p:nvSpPr>
        <p:spPr>
          <a:xfrm rot="339163">
            <a:off x="5808830" y="3819488"/>
            <a:ext cx="6400758" cy="1956332"/>
          </a:xfrm>
          <a:prstGeom prst="irregularSeal2">
            <a:avLst/>
          </a:prstGeom>
          <a:solidFill>
            <a:srgbClr val="FFFF00"/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0A298-1B0D-4BED-A463-04C415F7CF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288" y="0"/>
            <a:ext cx="51435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967EF4E-DFB1-4A54-B49E-9C21EAF548A6}"/>
              </a:ext>
            </a:extLst>
          </p:cNvPr>
          <p:cNvSpPr/>
          <p:nvPr/>
        </p:nvSpPr>
        <p:spPr>
          <a:xfrm>
            <a:off x="6099874" y="2142440"/>
            <a:ext cx="5537157" cy="30777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Prodi AP AK dan TI 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SPP </a:t>
            </a:r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hanya</a:t>
            </a:r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</a:p>
          <a:p>
            <a:pPr algn="ctr"/>
            <a:endParaRPr lang="en-US" sz="32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5400" b="0" cap="none" spc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Rp. 3.900.000</a:t>
            </a:r>
          </a:p>
        </p:txBody>
      </p:sp>
    </p:spTree>
    <p:extLst>
      <p:ext uri="{BB962C8B-B14F-4D97-AF65-F5344CB8AC3E}">
        <p14:creationId xmlns:p14="http://schemas.microsoft.com/office/powerpoint/2010/main" val="9380598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E2C19E3-AC73-D8E8-CAD9-78C5F0A67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326604"/>
            <a:ext cx="5486400" cy="154305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/>
              <a:t>YUK!</a:t>
            </a:r>
            <a:br>
              <a:rPr lang="en-US" sz="3600" b="1" dirty="0"/>
            </a:br>
            <a:r>
              <a:rPr lang="en-US" sz="3600" b="1" dirty="0"/>
              <a:t> COBAIN TES GRATIS UNTUK UKUR KEMAMPUAN MU!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F714F4-B8EF-3198-C379-3D44CAE00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012F19-34C7-B00E-5E05-C52E0F73E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02" y="-4763"/>
            <a:ext cx="5486400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F14A1A-6F29-C4C1-125E-D403E59265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167" t="65681" r="10417" b="10652"/>
          <a:stretch>
            <a:fillRect/>
          </a:stretch>
        </p:blipFill>
        <p:spPr>
          <a:xfrm>
            <a:off x="839788" y="2057400"/>
            <a:ext cx="3932237" cy="45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41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/>
        </p:nvCxnSpPr>
        <p:spPr>
          <a:xfrm>
            <a:off x="908488" y="0"/>
            <a:ext cx="0" cy="685800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35696" y="326572"/>
            <a:ext cx="402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11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848733" y="5116287"/>
            <a:ext cx="25715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2060"/>
                </a:solidFill>
                <a:latin typeface="Contrail One" panose="02000000000000000000" pitchFamily="2" charset="0"/>
              </a:rPr>
              <a:t>#</a:t>
            </a:r>
            <a:r>
              <a:rPr lang="id-ID" dirty="0">
                <a:solidFill>
                  <a:srgbClr val="002060"/>
                </a:solidFill>
                <a:latin typeface="Contrail One" panose="02000000000000000000" pitchFamily="2" charset="0"/>
              </a:rPr>
              <a:t>KAMPUSBERBASISINDUSTRI</a:t>
            </a:r>
            <a:endParaRPr lang="en-US" dirty="0">
              <a:solidFill>
                <a:srgbClr val="002060"/>
              </a:solidFill>
              <a:latin typeface="Contrail One" panose="020000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E5941E-C0BA-44E4-A258-82749CF25629}"/>
              </a:ext>
            </a:extLst>
          </p:cNvPr>
          <p:cNvSpPr txBox="1"/>
          <p:nvPr/>
        </p:nvSpPr>
        <p:spPr>
          <a:xfrm>
            <a:off x="5163637" y="258600"/>
            <a:ext cx="22171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M</a:t>
            </a:r>
            <a:r>
              <a:rPr lang="id-ID" sz="3200" b="1" dirty="0">
                <a:solidFill>
                  <a:srgbClr val="002060"/>
                </a:solidFill>
                <a:latin typeface="Contrail One" panose="02000000000000000000" pitchFamily="2" charset="0"/>
                <a:cs typeface="Arial" panose="020B0604020202020204" pitchFamily="34" charset="0"/>
              </a:rPr>
              <a:t>ORE INFO:</a:t>
            </a:r>
            <a:endParaRPr lang="en-US" sz="3200" b="1" dirty="0">
              <a:solidFill>
                <a:srgbClr val="002060"/>
              </a:solidFill>
              <a:latin typeface="Contrail One" panose="02000000000000000000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B6A10C-CDB4-1B08-0F60-AE86ACF462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10" y="803625"/>
            <a:ext cx="5686406" cy="5937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94471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171</Words>
  <Application>Microsoft Macintosh PowerPoint</Application>
  <PresentationFormat>Widescreen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Wingdings</vt:lpstr>
      <vt:lpstr>Calibri Light</vt:lpstr>
      <vt:lpstr>Arial</vt:lpstr>
      <vt:lpstr>Calibri</vt:lpstr>
      <vt:lpstr>Contrail One</vt:lpstr>
      <vt:lpstr>Office Theme</vt:lpstr>
      <vt:lpstr>PowerPoint Presentation</vt:lpstr>
      <vt:lpstr>PowerPoint Presentation</vt:lpstr>
      <vt:lpstr>PowerPoint Presentation</vt:lpstr>
      <vt:lpstr>PowerPoint Presentation</vt:lpstr>
      <vt:lpstr>AFILIASI MITRA PERUSAHAAN &amp; INSTANSI DENGAN POLTEKSI.</vt:lpstr>
      <vt:lpstr>PowerPoint Presentation</vt:lpstr>
      <vt:lpstr>PowerPoint Presentation</vt:lpstr>
      <vt:lpstr>PowerPoint Presentation</vt:lpstr>
      <vt:lpstr>PowerPoint Presentation</vt:lpstr>
      <vt:lpstr>PROMO EVENT INI...!!!</vt:lpstr>
      <vt:lpstr>PowerPoint Presentation</vt:lpstr>
      <vt:lpstr>PowerPoint Presentation</vt:lpstr>
      <vt:lpstr>YUK!  COBAIN TES GRATIS UNTUK UKUR KEMAMPUAN MU!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INTEL</dc:creator>
  <cp:lastModifiedBy>sischa.comel@outlook.co.id</cp:lastModifiedBy>
  <cp:revision>100</cp:revision>
  <dcterms:created xsi:type="dcterms:W3CDTF">2022-01-12T05:23:32Z</dcterms:created>
  <dcterms:modified xsi:type="dcterms:W3CDTF">2026-04-21T05:15:10Z</dcterms:modified>
</cp:coreProperties>
</file>