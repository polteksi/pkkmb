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6" r:id="rId3"/>
    <p:sldId id="358" r:id="rId5"/>
    <p:sldId id="312" r:id="rId6"/>
    <p:sldId id="313" r:id="rId7"/>
    <p:sldId id="353" r:id="rId8"/>
    <p:sldId id="310" r:id="rId9"/>
    <p:sldId id="323" r:id="rId10"/>
    <p:sldId id="350" r:id="rId11"/>
    <p:sldId id="336" r:id="rId12"/>
    <p:sldId id="338" r:id="rId13"/>
    <p:sldId id="351" r:id="rId14"/>
    <p:sldId id="357" r:id="rId15"/>
    <p:sldId id="335" r:id="rId16"/>
    <p:sldId id="340" r:id="rId17"/>
    <p:sldId id="341" r:id="rId18"/>
    <p:sldId id="342" r:id="rId19"/>
    <p:sldId id="343" r:id="rId20"/>
    <p:sldId id="344" r:id="rId21"/>
    <p:sldId id="345" r:id="rId22"/>
    <p:sldId id="34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AC090"/>
    <a:srgbClr val="A4BFDD"/>
    <a:srgbClr val="4F81BD"/>
    <a:srgbClr val="DDEBDE"/>
    <a:srgbClr val="93E312"/>
    <a:srgbClr val="DEAF81"/>
    <a:srgbClr val="C4C3D5"/>
    <a:srgbClr val="F2F2F2"/>
    <a:srgbClr val="6B9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5BC4B-3335-4DE9-9F3A-708B6B11D4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FF00"/>
                </a:solidFill>
                <a:latin typeface="Arial Rounded MT Bold" panose="020F0704030504030204"/>
                <a:cs typeface="Arial Rounded MT Bold" panose="020F07040305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FF00"/>
                </a:solidFill>
                <a:latin typeface="Arial Rounded MT Bold" panose="020F0704030504030204"/>
                <a:cs typeface="Arial Rounded MT Bold" panose="020F07040305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FF00"/>
                </a:solidFill>
                <a:latin typeface="Arial Rounded MT Bold" panose="020F0704030504030204"/>
                <a:cs typeface="Arial Rounded MT Bold" panose="020F07040305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53F2-0853-4631-B6C2-46368EBD3F8A}" type="datetimeFigureOut">
              <a:rPr lang="en-GB" smtClean="0"/>
            </a:fld>
            <a:endParaRPr lang="en-GB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3C00A-36BB-474C-9799-982A856C7B17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jpeg"/><Relationship Id="rId7" Type="http://schemas.openxmlformats.org/officeDocument/2006/relationships/image" Target="../media/image1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7424928" y="3681984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9604334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0" y="0"/>
            <a:ext cx="12190476" cy="68579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0465307" y="152400"/>
            <a:ext cx="1222248" cy="7162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6817" y="1532585"/>
            <a:ext cx="92783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FF00"/>
                </a:solidFill>
                <a:latin typeface="Arial Rounded MT Bold" panose="020F0704030504030204"/>
                <a:cs typeface="Arial Rounded MT Bold" panose="020F07040305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2493" y="1087882"/>
            <a:ext cx="11207013" cy="275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3382" y="6597853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529584"/>
            <a:ext cx="12192000" cy="17255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5258561"/>
            <a:ext cx="12192000" cy="1600200"/>
          </a:xfrm>
          <a:custGeom>
            <a:avLst/>
            <a:gdLst/>
            <a:ahLst/>
            <a:cxnLst/>
            <a:rect l="l" t="t" r="r" b="b"/>
            <a:pathLst>
              <a:path w="12192000" h="1600200">
                <a:moveTo>
                  <a:pt x="0" y="1600200"/>
                </a:moveTo>
                <a:lnTo>
                  <a:pt x="12192000" y="1600200"/>
                </a:lnTo>
                <a:lnTo>
                  <a:pt x="12192000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5258561"/>
            <a:ext cx="12192000" cy="1600200"/>
          </a:xfrm>
          <a:custGeom>
            <a:avLst/>
            <a:gdLst/>
            <a:ahLst/>
            <a:cxnLst/>
            <a:rect l="l" t="t" r="r" b="b"/>
            <a:pathLst>
              <a:path w="12192000" h="1600200">
                <a:moveTo>
                  <a:pt x="0" y="1600200"/>
                </a:moveTo>
                <a:lnTo>
                  <a:pt x="12192000" y="1600200"/>
                </a:lnTo>
                <a:lnTo>
                  <a:pt x="12192000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53561" y="5715761"/>
            <a:ext cx="8534400" cy="609600"/>
          </a:xfrm>
          <a:custGeom>
            <a:avLst/>
            <a:gdLst/>
            <a:ahLst/>
            <a:cxnLst/>
            <a:rect l="l" t="t" r="r" b="b"/>
            <a:pathLst>
              <a:path w="8534400" h="609600">
                <a:moveTo>
                  <a:pt x="0" y="609600"/>
                </a:moveTo>
                <a:lnTo>
                  <a:pt x="8534400" y="609600"/>
                </a:lnTo>
                <a:lnTo>
                  <a:pt x="85344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0"/>
          <p:cNvSpPr txBox="1"/>
          <p:nvPr/>
        </p:nvSpPr>
        <p:spPr>
          <a:xfrm>
            <a:off x="635" y="1154391"/>
            <a:ext cx="12192000" cy="1685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1" i="0">
                <a:solidFill>
                  <a:srgbClr val="FFFF00"/>
                </a:solidFill>
                <a:latin typeface="Arial Rounded MT Bold" panose="020F0704030504030204"/>
                <a:ea typeface="+mj-ea"/>
                <a:cs typeface="Arial Rounded MT Bold" panose="020F0704030504030204"/>
              </a:defRPr>
            </a:lvl1pPr>
          </a:lstStyle>
          <a:p>
            <a:pPr marL="337820" algn="ctr">
              <a:spcBef>
                <a:spcPts val="95"/>
              </a:spcBef>
            </a:pPr>
            <a:r>
              <a:rPr lang="en-US" sz="5400" dirty="0"/>
              <a:t>SEKILAS INFO TENTANG</a:t>
            </a:r>
            <a:endParaRPr lang="en-US" sz="5400" dirty="0"/>
          </a:p>
          <a:p>
            <a:pPr marL="337820" algn="ctr">
              <a:spcBef>
                <a:spcPts val="95"/>
              </a:spcBef>
            </a:pPr>
            <a:r>
              <a:rPr lang="en-US" sz="5400" dirty="0"/>
              <a:t>SDGS DESIGN LAB - POLTEKSI</a:t>
            </a:r>
            <a:endParaRPr lang="en-US" sz="5400" dirty="0"/>
          </a:p>
        </p:txBody>
      </p:sp>
      <p:sp>
        <p:nvSpPr>
          <p:cNvPr id="13" name="object 9"/>
          <p:cNvSpPr txBox="1"/>
          <p:nvPr/>
        </p:nvSpPr>
        <p:spPr>
          <a:xfrm>
            <a:off x="3049522" y="5497681"/>
            <a:ext cx="3960877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latin typeface="Arial Rounded MT Bold" panose="020F0704030504030204" pitchFamily="34" charset="0"/>
                <a:cs typeface="Microsoft JhengHei UI" panose="020B0604030504040204" charset="-120"/>
              </a:rPr>
              <a:t>POLITEKNIK</a:t>
            </a:r>
            <a:r>
              <a:rPr sz="3200" b="1" dirty="0">
                <a:latin typeface="Arial Rounded MT Bold" panose="020F0704030504030204" pitchFamily="34" charset="0"/>
                <a:cs typeface="Microsoft JhengHei UI" panose="020B0604030504040204" charset="-120"/>
              </a:rPr>
              <a:t> </a:t>
            </a:r>
            <a:r>
              <a:rPr sz="3200" b="1" spc="-5" dirty="0">
                <a:latin typeface="Arial Rounded MT Bold" panose="020F0704030504030204" pitchFamily="34" charset="0"/>
                <a:cs typeface="Microsoft JhengHei UI" panose="020B0604030504040204" charset="-120"/>
              </a:rPr>
              <a:t>SEMEN</a:t>
            </a:r>
            <a:r>
              <a:rPr sz="3200" b="1" spc="-35" dirty="0">
                <a:latin typeface="Arial Rounded MT Bold" panose="020F0704030504030204" pitchFamily="34" charset="0"/>
                <a:cs typeface="Microsoft JhengHei UI" panose="020B0604030504040204" charset="-120"/>
              </a:rPr>
              <a:t> </a:t>
            </a:r>
            <a:r>
              <a:rPr sz="3200" b="1" spc="-5" dirty="0">
                <a:latin typeface="Arial Rounded MT Bold" panose="020F0704030504030204" pitchFamily="34" charset="0"/>
                <a:cs typeface="Microsoft JhengHei UI" panose="020B0604030504040204" charset="-120"/>
              </a:rPr>
              <a:t>INDONESIA</a:t>
            </a:r>
            <a:endParaRPr sz="3200" dirty="0">
              <a:latin typeface="Arial Rounded MT Bold" panose="020F0704030504030204" pitchFamily="34" charset="0"/>
              <a:cs typeface="Microsoft JhengHei UI" panose="020B060403050404020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363075" y="3200400"/>
            <a:ext cx="2829560" cy="35242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r">
              <a:lnSpc>
                <a:spcPct val="85000"/>
              </a:lnSpc>
              <a:defRPr/>
            </a:pPr>
            <a:r>
              <a:rPr lang="en-US" sz="2000" b="1" kern="0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Rounded MT Bold" panose="020F0704030504030204" pitchFamily="34" charset="0"/>
              </a:rPr>
              <a:t>TM - TI - AK - AP</a:t>
            </a:r>
            <a:endParaRPr lang="id-ID" sz="2000" b="1" kern="0" spc="5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15" name="object 9"/>
          <p:cNvSpPr txBox="1"/>
          <p:nvPr/>
        </p:nvSpPr>
        <p:spPr>
          <a:xfrm>
            <a:off x="7895684" y="6405430"/>
            <a:ext cx="42454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>
                <a:latin typeface="Microsoft JhengHei UI" panose="020B0604030504040204" charset="-120"/>
                <a:cs typeface="Microsoft JhengHei UI" panose="020B0604030504040204" charset="-120"/>
              </a:rPr>
              <a:t>By : </a:t>
            </a:r>
            <a:r>
              <a:rPr lang="en-US" b="1" spc="-5" dirty="0" err="1">
                <a:latin typeface="Microsoft JhengHei UI" panose="020B0604030504040204" charset="-120"/>
                <a:cs typeface="Microsoft JhengHei UI" panose="020B0604030504040204" charset="-120"/>
              </a:rPr>
              <a:t>Nugrahadi</a:t>
            </a:r>
            <a:r>
              <a:rPr lang="en-US" b="1" spc="-5" dirty="0">
                <a:latin typeface="Microsoft JhengHei UI" panose="020B0604030504040204" charset="-120"/>
                <a:cs typeface="Microsoft JhengHei UI" panose="020B0604030504040204" charset="-120"/>
              </a:rPr>
              <a:t> </a:t>
            </a:r>
            <a:r>
              <a:rPr lang="en-US" b="1" spc="-5" dirty="0" err="1">
                <a:latin typeface="Microsoft JhengHei UI" panose="020B0604030504040204" charset="-120"/>
                <a:cs typeface="Microsoft JhengHei UI" panose="020B0604030504040204" charset="-120"/>
              </a:rPr>
              <a:t>Djazaul</a:t>
            </a:r>
            <a:r>
              <a:rPr lang="en-US" b="1" spc="-5" dirty="0">
                <a:latin typeface="Microsoft JhengHei UI" panose="020B0604030504040204" charset="-120"/>
                <a:cs typeface="Microsoft JhengHei UI" panose="020B0604030504040204" charset="-120"/>
              </a:rPr>
              <a:t> </a:t>
            </a:r>
            <a:r>
              <a:rPr lang="en-US" b="1" spc="-5" dirty="0" err="1">
                <a:latin typeface="Microsoft JhengHei UI" panose="020B0604030504040204" charset="-120"/>
                <a:cs typeface="Microsoft JhengHei UI" panose="020B0604030504040204" charset="-120"/>
              </a:rPr>
              <a:t>Mukhsinin</a:t>
            </a:r>
            <a:endParaRPr dirty="0">
              <a:latin typeface="Microsoft JhengHei UI" panose="020B0604030504040204" charset="-120"/>
              <a:cs typeface="Microsoft JhengHei UI" panose="020B0604030504040204" charset="-120"/>
            </a:endParaRPr>
          </a:p>
        </p:txBody>
      </p:sp>
      <p:pic>
        <p:nvPicPr>
          <p:cNvPr id="16" name="image1.jpg" descr="Description: Description: Logo, company name&#10;&#10;Description automatically generated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11715" y="5237549"/>
            <a:ext cx="1676400" cy="1620449"/>
          </a:xfrm>
          <a:prstGeom prst="rect">
            <a:avLst/>
          </a:prstGeom>
          <a:solidFill>
            <a:srgbClr val="FF0000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BANGUNAN KAMPUS POLTEKSI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28625" y="5013325"/>
            <a:ext cx="11411585" cy="1308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20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Tempat berkumpulnya para praktisi proyek Tuban 1 &amp; 2</a:t>
            </a:r>
            <a:endParaRPr lang="en-US" altLang="en-US" sz="220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20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Tempat memproduk karya keteknikan pembangunan Pabrik Semen kapasitas terbesar</a:t>
            </a:r>
            <a:endParaRPr lang="en-US" altLang="en-US" sz="220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20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Engineering (Sipil, Mekanikal, Elektrikal, Instrumen, Adminsitrasi, Keuangan, SDM dll)</a:t>
            </a:r>
            <a:endParaRPr lang="en-US" altLang="en-US" sz="220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56840" y="3327400"/>
            <a:ext cx="2366645" cy="75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800">
                <a:solidFill>
                  <a:srgbClr val="00B0F0"/>
                </a:solidFill>
                <a:latin typeface="Arial Black" panose="020B0A04020102020204" charset="0"/>
                <a:cs typeface="Arial Black" panose="020B0A04020102020204" charset="0"/>
              </a:rPr>
              <a:t>merah</a:t>
            </a:r>
            <a:endParaRPr lang="en-US" sz="4800">
              <a:solidFill>
                <a:srgbClr val="00B0F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23660" y="3327400"/>
            <a:ext cx="2366645" cy="75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800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hijau</a:t>
            </a:r>
            <a:endParaRPr lang="en-US" sz="4800">
              <a:solidFill>
                <a:srgbClr val="FF0000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517775" y="2682240"/>
            <a:ext cx="6924040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en-US" sz="240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sebutkan dengan keras, tulisan ini berwarna apa</a:t>
            </a:r>
            <a:endParaRPr lang="en-US" altLang="en-US" sz="240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l="19594" t="14583" r="7177" b="31458"/>
          <a:stretch>
            <a:fillRect/>
          </a:stretch>
        </p:blipFill>
        <p:spPr>
          <a:xfrm>
            <a:off x="643255" y="1087120"/>
            <a:ext cx="11034395" cy="36588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rcRect l="32021" t="38013" r="21488" b="41815"/>
          <a:stretch>
            <a:fillRect/>
          </a:stretch>
        </p:blipFill>
        <p:spPr>
          <a:xfrm>
            <a:off x="2517140" y="2677160"/>
            <a:ext cx="7005320" cy="1367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8" grpId="0" bldLvl="0" animBg="1"/>
      <p:bldP spid="8" grpId="1" animBg="1"/>
      <p:bldP spid="9" grpId="0" bldLvl="0" animBg="1"/>
      <p:bldP spid="9" grpId="1" animBg="1"/>
      <p:bldP spid="54" grpId="0"/>
      <p:bldP spid="54" grpId="1"/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0640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SILO - SDGS DESIGN LAB 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4" name="Tekstvak 10"/>
          <p:cNvSpPr txBox="1"/>
          <p:nvPr/>
        </p:nvSpPr>
        <p:spPr>
          <a:xfrm>
            <a:off x="4692650" y="990600"/>
            <a:ext cx="3139440" cy="1014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174625" indent="-174625" algn="just">
              <a:buFont typeface="Arial" panose="020B0604020202020204" pitchFamily="34" charset="0"/>
              <a:buChar char="•"/>
            </a:pPr>
            <a:r>
              <a:rPr lang="en-US" altLang="nl-NL" sz="20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2 unit Silo kecil</a:t>
            </a:r>
            <a:endParaRPr lang="en-US" altLang="nl-NL" sz="20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174625" indent="-174625" algn="just">
              <a:buFont typeface="Arial" panose="020B0604020202020204" pitchFamily="34" charset="0"/>
              <a:buChar char="•"/>
            </a:pPr>
            <a:r>
              <a:rPr lang="en-US" altLang="nl-NL" sz="20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6 unit Silo besar</a:t>
            </a:r>
            <a:endParaRPr lang="nl-NL" altLang="en-US" sz="20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endParaRPr lang="nl-NL" altLang="en-US" sz="20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l="10542" t="7629" r="12246" b="34119"/>
          <a:stretch>
            <a:fillRect/>
          </a:stretch>
        </p:blipFill>
        <p:spPr>
          <a:xfrm>
            <a:off x="525145" y="990600"/>
            <a:ext cx="3982085" cy="22529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46325" y="990600"/>
            <a:ext cx="9399270" cy="4972050"/>
          </a:xfrm>
          <a:prstGeom prst="rect">
            <a:avLst/>
          </a:prstGeom>
        </p:spPr>
      </p:pic>
      <p:pic>
        <p:nvPicPr>
          <p:cNvPr id="2" name="Picture 1" descr="Design Lab"/>
          <p:cNvPicPr>
            <a:picLocks noChangeAspect="1"/>
          </p:cNvPicPr>
          <p:nvPr/>
        </p:nvPicPr>
        <p:blipFill>
          <a:blip r:embed="rId4"/>
          <a:srcRect r="5879"/>
          <a:stretch>
            <a:fillRect/>
          </a:stretch>
        </p:blipFill>
        <p:spPr>
          <a:xfrm>
            <a:off x="2346325" y="990600"/>
            <a:ext cx="9385300" cy="5608955"/>
          </a:xfrm>
          <a:prstGeom prst="rect">
            <a:avLst/>
          </a:prstGeom>
        </p:spPr>
      </p:pic>
      <p:pic>
        <p:nvPicPr>
          <p:cNvPr id="3" name="Picture 2" descr="side t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325" y="990600"/>
            <a:ext cx="9385300" cy="5608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SDGS DESIGN LAB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pic>
        <p:nvPicPr>
          <p:cNvPr id="2" name="Picture 1" descr="Fro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25" y="1068070"/>
            <a:ext cx="8354060" cy="4699635"/>
          </a:xfrm>
          <a:prstGeom prst="rect">
            <a:avLst/>
          </a:prstGeom>
        </p:spPr>
      </p:pic>
      <p:sp>
        <p:nvSpPr>
          <p:cNvPr id="3" name="Tekstvak 10"/>
          <p:cNvSpPr txBox="1"/>
          <p:nvPr/>
        </p:nvSpPr>
        <p:spPr>
          <a:xfrm>
            <a:off x="8900795" y="1068070"/>
            <a:ext cx="3147060" cy="27971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just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nl-NL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FASILITAS LABORATORIUM</a:t>
            </a:r>
            <a:endParaRPr lang="en-US" altLang="nl-NL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Renewable Energy Lab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Electro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ngineering Lab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Mechanical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ngineering Lab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Civil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ngineering Lab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Sustainable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A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rchitecture Lab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Robotica Lab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Food Lab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Media Lab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Confection Lab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</p:txBody>
      </p:sp>
      <p:sp>
        <p:nvSpPr>
          <p:cNvPr id="4" name="Tekstvak 10"/>
          <p:cNvSpPr txBox="1"/>
          <p:nvPr/>
        </p:nvSpPr>
        <p:spPr>
          <a:xfrm>
            <a:off x="8900795" y="3942715"/>
            <a:ext cx="3147060" cy="21069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nl-NL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FASILITAS RUANGAN</a:t>
            </a:r>
            <a:endParaRPr lang="en-US" altLang="nl-NL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Brainstorm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oom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Meeting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oom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Presentation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oom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Start-up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ffices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Board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oom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Education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oom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</p:txBody>
      </p:sp>
      <p:sp>
        <p:nvSpPr>
          <p:cNvPr id="9" name="Tekstvak 10"/>
          <p:cNvSpPr txBox="1"/>
          <p:nvPr/>
        </p:nvSpPr>
        <p:spPr>
          <a:xfrm>
            <a:off x="8968740" y="1068070"/>
            <a:ext cx="3147060" cy="36195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p>
            <a:pPr indent="0" algn="just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nl-NL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BOTTOM SILO</a:t>
            </a:r>
            <a:endParaRPr lang="en-US" altLang="nl-NL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Renewable Energy Lab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Electro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ngineering Lab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Mechanical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ngineering Lab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Civil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ngineering Lab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Sustainable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A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rchitecture Lab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Robotica Lab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Food Lab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Media Lab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Confection Lab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Brainstorm </a:t>
            </a:r>
            <a:r>
              <a:rPr lang="en-US" altLang="nl-NL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R</a:t>
            </a:r>
            <a:r>
              <a:rPr lang="nl-NL" altLang="en-US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oom </a:t>
            </a:r>
            <a:endParaRPr lang="nl-NL" altLang="en-US" sz="1600" dirty="0"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  <a:sym typeface="+mn-ea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Meeting </a:t>
            </a:r>
            <a:r>
              <a:rPr lang="en-US" altLang="nl-NL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R</a:t>
            </a:r>
            <a:r>
              <a:rPr lang="nl-NL" altLang="en-US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oom </a:t>
            </a:r>
            <a:endParaRPr lang="nl-NL" altLang="en-US" sz="1600" dirty="0"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  <a:sym typeface="+mn-ea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Presentation </a:t>
            </a:r>
            <a:r>
              <a:rPr lang="en-US" altLang="nl-NL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R</a:t>
            </a:r>
            <a:r>
              <a:rPr lang="nl-NL" altLang="en-US" sz="1600" dirty="0"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  <a:sym typeface="+mn-ea"/>
              </a:rPr>
              <a:t>oom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52730" indent="-252730" algn="l">
              <a:lnSpc>
                <a:spcPct val="110000"/>
              </a:lnSpc>
              <a:buFont typeface="Wingdings" panose="05000000000000000000" charset="0"/>
              <a:buChar char="ü"/>
            </a:pP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</p:txBody>
      </p:sp>
      <p:sp>
        <p:nvSpPr>
          <p:cNvPr id="11" name="Tekstvak 10"/>
          <p:cNvSpPr txBox="1"/>
          <p:nvPr/>
        </p:nvSpPr>
        <p:spPr>
          <a:xfrm>
            <a:off x="8968740" y="4687570"/>
            <a:ext cx="3147060" cy="15659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pPr indent="0" algn="just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TOP SILO</a:t>
            </a:r>
            <a:endParaRPr 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Start-up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ffices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Board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oom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Education </a:t>
            </a: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R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oom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nl-NL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etc</a:t>
            </a:r>
            <a:r>
              <a:rPr lang="nl-NL" altLang="en-US" sz="1600" dirty="0">
                <a:solidFill>
                  <a:schemeClr val="tx1"/>
                </a:solidFill>
                <a:latin typeface="Bahnschrift SemiBold" panose="020B0502040204020203" charset="0"/>
                <a:ea typeface="Times New Roman" panose="02020603050405020304" pitchFamily="18" charset="0"/>
                <a:cs typeface="Bahnschrift SemiBold" panose="020B0502040204020203" charset="0"/>
              </a:rPr>
              <a:t> </a:t>
            </a:r>
            <a:endParaRPr lang="nl-NL" altLang="en-US" sz="1600" dirty="0">
              <a:solidFill>
                <a:schemeClr val="tx1"/>
              </a:solidFill>
              <a:latin typeface="Bahnschrift SemiBold" panose="020B0502040204020203" charset="0"/>
              <a:ea typeface="Times New Roman" panose="02020603050405020304" pitchFamily="18" charset="0"/>
              <a:cs typeface="Bahnschrift SemiBold" panose="020B0502040204020203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" y="1068070"/>
            <a:ext cx="8349615" cy="4699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" grpId="1"/>
      <p:bldP spid="4" grpId="1"/>
      <p:bldP spid="9" grpId="0" animBg="1"/>
      <p:bldP spid="11" grpId="0" bldLvl="0" animBg="1"/>
      <p:bldP spid="9" grpId="1" animBg="1"/>
      <p:bldP spid="1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10621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  <a:sym typeface="+mn-ea"/>
              </a:rPr>
              <a:t>CONTOH : SDGS DESIGN LAB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" y="922020"/>
            <a:ext cx="6149975" cy="27933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990600"/>
            <a:ext cx="5193665" cy="40430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985" y="3743960"/>
            <a:ext cx="5184140" cy="2931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10621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  <a:sym typeface="+mn-ea"/>
              </a:rPr>
              <a:t>MITRA POLTEKSI - KONSULTAN </a:t>
            </a: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016250" y="2719705"/>
            <a:ext cx="8759825" cy="16300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Consulting and Advising (stakeholders, policymakers, and start-ups)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Collecting and Analysing (environmental projects)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Research (renewable energy, climate change, and food &amp; water)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Partnerships Management, and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International Networking</a:t>
            </a:r>
            <a:endParaRPr lang="en-US" sz="20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44500" y="3618230"/>
            <a:ext cx="231076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sz="1600" b="1" u="sng">
                <a:solidFill>
                  <a:srgbClr val="000000"/>
                </a:solidFill>
                <a:latin typeface="Bahnschrift SemiBold" panose="020B0502040204020203" charset="0"/>
                <a:ea typeface="Univers Light"/>
                <a:cs typeface="Bahnschrift SemiBold" panose="020B0502040204020203" charset="0"/>
              </a:rPr>
              <a:t>Mr. </a:t>
            </a:r>
            <a:r>
              <a:rPr sz="1600" b="1" u="sng">
                <a:solidFill>
                  <a:srgbClr val="000000"/>
                </a:solidFill>
                <a:latin typeface="Bahnschrift SemiBold" panose="020B0502040204020203" charset="0"/>
                <a:ea typeface="Univers Light"/>
                <a:cs typeface="Bahnschrift SemiBold" panose="020B0502040204020203" charset="0"/>
              </a:rPr>
              <a:t>Jeroen Rijnenberg</a:t>
            </a:r>
            <a:endParaRPr sz="1600" b="1">
              <a:solidFill>
                <a:srgbClr val="000000"/>
              </a:solidFill>
              <a:latin typeface="Bahnschrift SemiBold" panose="020B0502040204020203" charset="0"/>
              <a:ea typeface="Univers Light"/>
              <a:cs typeface="Bahnschrift SemiBold" panose="020B0502040204020203" charset="0"/>
            </a:endParaRPr>
          </a:p>
          <a:p>
            <a:pPr algn="ctr"/>
            <a:r>
              <a:rPr sz="1600" b="1">
                <a:solidFill>
                  <a:srgbClr val="000000"/>
                </a:solidFill>
                <a:latin typeface="Bahnschrift SemiBold" panose="020B0502040204020203" charset="0"/>
                <a:ea typeface="Univers Light"/>
                <a:cs typeface="Bahnschrift SemiBold" panose="020B0502040204020203" charset="0"/>
                <a:sym typeface="+mn-ea"/>
              </a:rPr>
              <a:t>Board of Advisor</a:t>
            </a:r>
            <a:endParaRPr sz="1600" b="1">
              <a:solidFill>
                <a:srgbClr val="000000"/>
              </a:solidFill>
              <a:latin typeface="Bahnschrift SemiBold" panose="020B0502040204020203" charset="0"/>
              <a:ea typeface="Univers Light"/>
              <a:cs typeface="Bahnschrift SemiBold" panose="020B0502040204020203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016250" y="996950"/>
            <a:ext cx="8742680" cy="16300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spAutoFit/>
          </a:bodyPr>
          <a:p>
            <a:pPr marL="285750" indent="-285750" algn="just"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Public Speaking, Sustainability, Circularity, Economy, Creative Technology and Practical Business Development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 algn="just"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Ambassadors of the University of Twente and 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the United Nations Global Compact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 algn="just"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Involved in multiple innovative projects around the world.</a:t>
            </a:r>
            <a:endParaRPr lang="en-US" sz="20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pic>
        <p:nvPicPr>
          <p:cNvPr id="4" name="Afbeelding 7" descr="Afbeelding met persoon, kostuum, person, dragen&#10;&#10;Automatisch gegenereerde beschrijv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5" b="4755"/>
          <a:stretch>
            <a:fillRect/>
          </a:stretch>
        </p:blipFill>
        <p:spPr>
          <a:xfrm>
            <a:off x="568325" y="1025525"/>
            <a:ext cx="2000885" cy="255651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4514215"/>
            <a:ext cx="6488430" cy="213804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210" y="4194810"/>
            <a:ext cx="4071620" cy="2462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BENEFIT SDGS DESIGN LAB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7990" y="995680"/>
            <a:ext cx="1104138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INTERNAL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Pemberdayaan melalui pendidikan potensi bakat dan generasi inovatif.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Sistem pendidikan mandiri.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Dijalankan oleh mahasiswa untuk mahasiswa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Keterlibatan erat mahasiswa dan startup dalam praktik berkelanjutan.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Bank data R &amp; D serta pengetahuan berkelanjutan.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Proyek percontohan (prototype).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Penciptaan startup.</a:t>
            </a:r>
            <a:endParaRPr lang="en-US" altLang="en-US" sz="2000" strike="sngStrike"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27990" y="4286885"/>
            <a:ext cx="109283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EXTERNAL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Kemitraan strategis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Program penggalangan dana.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Peluang untuk pengembangan ekonomi, pengembangan produk dan kegiatan inovasi.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Pengembalian dampak, dan pengembalian investasi bagi investor dan donatur.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10621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  <a:sym typeface="+mn-ea"/>
              </a:rPr>
              <a:t>TUGAS MAHASISWA &amp; JENJANG </a:t>
            </a: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KARIR 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9435" y="2590800"/>
            <a:ext cx="1125537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ct val="120000"/>
              </a:lnSpc>
              <a:buFont typeface="+mj-lt"/>
              <a:buNone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Ruang lingkup tugas mahasiswa :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68935" indent="-368935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Exclusive Officer 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► perencanaan kegiatan, monitoring dan laporan kegiatan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68935" indent="-368935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Financial Officer 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►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perencanaan keuangan, monitoring dan laporan keuangan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68935" indent="-368935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Communication Officer 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►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komunikasi dengan sosial media, internal &amp; external, para pihak terkait, kegiatan keluar (event)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68935" indent="-368935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Operational Officer 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►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 persiapan event, pengaturan staf, menjaga barang persediaan, dan operasional organisasi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68935" indent="-368935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Project Officer 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►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monitoring proyek, analisa dan laporan proyek serta pengarah start up 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68935" indent="-368935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Technical Officer 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►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monitoring fasilitas, peralatan lab, mendukung kegiatan bersifat teknis</a:t>
            </a:r>
            <a:endParaRPr lang="en-US" altLang="en-US" sz="20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368935" indent="-368935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</a:rPr>
              <a:t>Education Officer 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►</a:t>
            </a:r>
            <a:r>
              <a:rPr lang="en-US" altLang="en-US" sz="20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perencanaan pelatihan, monitoring dan laporan kegiatan pelatihan</a:t>
            </a:r>
            <a:endParaRPr lang="en-US" sz="20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58800" y="990600"/>
            <a:ext cx="11254740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en-US" sz="22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Keterlibatan mahasiswa selama 3 tahun pada kegiatan Design Lab akan mendapatkan  berbagai pelatihan, yang menyangkut bidang : finansial, komunikasi, operasional, proyek, teknikal dan eval &amp; laporan  </a:t>
            </a:r>
            <a:endParaRPr lang="en-US" altLang="en-US" sz="2200"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  <p:sp>
        <p:nvSpPr>
          <p:cNvPr id="4" name="Rectangles 19"/>
          <p:cNvSpPr/>
          <p:nvPr/>
        </p:nvSpPr>
        <p:spPr>
          <a:xfrm>
            <a:off x="586105" y="991235"/>
            <a:ext cx="11228070" cy="1376045"/>
          </a:xfrm>
          <a:prstGeom prst="rect">
            <a:avLst/>
          </a:prstGeom>
          <a:solidFill>
            <a:srgbClr val="A4BFDD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2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10621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  <a:sym typeface="+mn-ea"/>
              </a:rPr>
              <a:t>TUGAS MAHASISWA &amp; JENJANG </a:t>
            </a: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KARIR 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3" name="Rectangles 21"/>
          <p:cNvSpPr/>
          <p:nvPr/>
        </p:nvSpPr>
        <p:spPr>
          <a:xfrm>
            <a:off x="6168390" y="1621155"/>
            <a:ext cx="1203325" cy="408940"/>
          </a:xfrm>
          <a:prstGeom prst="rect">
            <a:avLst/>
          </a:prstGeom>
          <a:solidFill>
            <a:srgbClr val="FFC000"/>
          </a:solidFill>
          <a:ln w="31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Chief</a:t>
            </a:r>
            <a:endParaRPr lang="en-US" sz="16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8" name="Rectangles 30"/>
          <p:cNvSpPr/>
          <p:nvPr/>
        </p:nvSpPr>
        <p:spPr>
          <a:xfrm>
            <a:off x="4629785" y="1731645"/>
            <a:ext cx="1203325" cy="403225"/>
          </a:xfrm>
          <a:prstGeom prst="rect">
            <a:avLst/>
          </a:prstGeom>
          <a:solidFill>
            <a:srgbClr val="FFC000"/>
          </a:solidFill>
          <a:ln w="31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Manager</a:t>
            </a:r>
            <a:endParaRPr lang="en-US" sz="16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9" name="Rectangles 43"/>
          <p:cNvSpPr/>
          <p:nvPr/>
        </p:nvSpPr>
        <p:spPr>
          <a:xfrm>
            <a:off x="3091180" y="1937385"/>
            <a:ext cx="1203325" cy="408940"/>
          </a:xfrm>
          <a:prstGeom prst="rect">
            <a:avLst/>
          </a:prstGeom>
          <a:solidFill>
            <a:srgbClr val="92D050"/>
          </a:solidFill>
          <a:ln w="31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Operator</a:t>
            </a:r>
            <a:endParaRPr lang="en-US" sz="16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Rectangles 3"/>
          <p:cNvSpPr/>
          <p:nvPr/>
        </p:nvSpPr>
        <p:spPr>
          <a:xfrm>
            <a:off x="7706995" y="1431925"/>
            <a:ext cx="1203325" cy="408940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Start Up</a:t>
            </a:r>
            <a:endParaRPr lang="en-US" sz="16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3" name="Rectangles 19"/>
          <p:cNvSpPr/>
          <p:nvPr/>
        </p:nvSpPr>
        <p:spPr>
          <a:xfrm>
            <a:off x="2844165" y="1242060"/>
            <a:ext cx="6313170" cy="1341120"/>
          </a:xfrm>
          <a:prstGeom prst="rect">
            <a:avLst/>
          </a:prstGeom>
          <a:solidFill>
            <a:srgbClr val="A4BFDD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43"/>
          <p:cNvSpPr/>
          <p:nvPr/>
        </p:nvSpPr>
        <p:spPr>
          <a:xfrm>
            <a:off x="959485" y="1731645"/>
            <a:ext cx="1203325" cy="40894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Dosen</a:t>
            </a:r>
            <a:endParaRPr lang="en-US" sz="16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5" name="Rectangles 43"/>
          <p:cNvSpPr/>
          <p:nvPr/>
        </p:nvSpPr>
        <p:spPr>
          <a:xfrm>
            <a:off x="9845675" y="1790700"/>
            <a:ext cx="1203325" cy="40894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Konsultan</a:t>
            </a:r>
            <a:endParaRPr lang="en-US" sz="16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1810" y="1113155"/>
            <a:ext cx="11165840" cy="163449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19" name="Table 18"/>
          <p:cNvGraphicFramePr/>
          <p:nvPr>
            <p:custDataLst>
              <p:tags r:id="rId2"/>
            </p:custDataLst>
          </p:nvPr>
        </p:nvGraphicFramePr>
        <p:xfrm>
          <a:off x="511810" y="3068320"/>
          <a:ext cx="1116584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1341755"/>
                <a:gridCol w="930783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NO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STAFF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TASK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1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Operator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atin typeface="Bahnschrift SemiBold" panose="020B0502040204020203" charset="0"/>
                          <a:cs typeface="Bahnschrift SemiBold" panose="020B0502040204020203" charset="0"/>
                          <a:sym typeface="+mn-ea"/>
                        </a:rPr>
                        <a:t>Writing report, technical support, preparation, monitoring, maintaining, etc</a:t>
                      </a:r>
                      <a:endParaRPr lang="en-US" altLang="en-US">
                        <a:latin typeface="Bahnschrift SemiBold" panose="020B0502040204020203" charset="0"/>
                        <a:cs typeface="Bahnschrift SemiBold" panose="020B0502040204020203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2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Manager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atin typeface="Bahnschrift SemiBold" panose="020B0502040204020203" charset="0"/>
                          <a:cs typeface="Bahnschrift SemiBold" panose="020B0502040204020203" charset="0"/>
                          <a:sym typeface="+mn-ea"/>
                        </a:rPr>
                        <a:t>Manage, controller, fix problems, monitor operator, reporting, educate operator, etc</a:t>
                      </a:r>
                      <a:endParaRPr lang="en-US" altLang="en-US">
                        <a:latin typeface="Bahnschrift SemiBold" panose="020B0502040204020203" charset="0"/>
                        <a:cs typeface="Bahnschrift SemiBold" panose="020B0502040204020203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3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Chief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Operational strategy, operational management, project strategy, development, etc</a:t>
                      </a:r>
                      <a:endParaRPr lang="en-US" alt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4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Start Up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Implement of the 17 SDG’s</a:t>
                      </a:r>
                      <a:endParaRPr lang="en-US" alt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1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Dosen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Supporting, coaching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2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Konsultan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Advise, training, education, industrial link, fundraising etc</a:t>
                      </a:r>
                      <a:endParaRPr lang="en-US"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8" grpId="0" bldLvl="0" animBg="1"/>
      <p:bldP spid="9" grpId="0" bldLvl="0" animBg="1"/>
      <p:bldP spid="12" grpId="0" bldLvl="0" animBg="1"/>
      <p:bldP spid="13" grpId="0" bldLvl="0" animBg="1"/>
      <p:bldP spid="3" grpId="1" animBg="1"/>
      <p:bldP spid="8" grpId="1" animBg="1"/>
      <p:bldP spid="9" grpId="1" animBg="1"/>
      <p:bldP spid="12" grpId="1" animBg="1"/>
      <p:bldP spid="13" grpId="1" animBg="1"/>
      <p:bldP spid="16" grpId="0" bldLvl="0" animBg="1"/>
      <p:bldP spid="15" grpId="0" bldLvl="0" animBg="1"/>
      <p:bldP spid="14" grpId="0" bldLvl="0" animBg="1"/>
      <p:bldP spid="16" grpId="1" animBg="1"/>
      <p:bldP spid="15" grpId="1" animBg="1"/>
      <p:bldP spid="1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626360" y="3038475"/>
            <a:ext cx="1245235" cy="57848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name ?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10621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STRUKTUR ORG (OPERASIONAL)</a:t>
            </a:r>
            <a:endParaRPr lang="en-US" alt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037455" y="991870"/>
            <a:ext cx="1604010" cy="34163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Board of PoltekSI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5031105" y="1441450"/>
            <a:ext cx="1604010" cy="33782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Board of Advisor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5037455" y="1889760"/>
            <a:ext cx="1604010" cy="34798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Executive Board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2626360" y="2361565"/>
            <a:ext cx="1247140" cy="66929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CEO (Chief Exclusive Officer)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532255" y="2361565"/>
            <a:ext cx="1093470" cy="66929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Chief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3871595" y="2362200"/>
            <a:ext cx="1151255" cy="66929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CFO (Chief Financial Officer)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5026025" y="2362835"/>
            <a:ext cx="1571625" cy="66929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CCO (Chief Communication Officer)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605270" y="2360295"/>
            <a:ext cx="1440815" cy="66929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COO (Chief Operational Officer)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8036560" y="2363470"/>
            <a:ext cx="1256030" cy="66929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CPO (Chief Project Officer)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9293225" y="2358390"/>
            <a:ext cx="1256030" cy="66929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CTO (Chief Technical Officer)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874135" y="3035300"/>
            <a:ext cx="1141095" cy="57848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598920" y="3034665"/>
            <a:ext cx="1429385" cy="57848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9305290" y="3025775"/>
            <a:ext cx="1256030" cy="57848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034655" y="3038475"/>
            <a:ext cx="1265555" cy="57848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5019040" y="3033395"/>
            <a:ext cx="1571625" cy="57848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2626995" y="4125595"/>
            <a:ext cx="1245235" cy="60896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2626995" y="3681730"/>
            <a:ext cx="1247140" cy="44831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Exclusive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532890" y="3672205"/>
            <a:ext cx="1093470" cy="46482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Manager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872230" y="3672840"/>
            <a:ext cx="1151255" cy="46482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Financial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5032375" y="3673475"/>
            <a:ext cx="1571625" cy="46482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Communication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6605905" y="3670935"/>
            <a:ext cx="1440815" cy="46482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Operational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047990" y="3664585"/>
            <a:ext cx="1256030" cy="46482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Project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9304655" y="3670300"/>
            <a:ext cx="1256030" cy="46482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Technical 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3874770" y="4130040"/>
            <a:ext cx="1141095" cy="60896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name ?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6595110" y="4139565"/>
            <a:ext cx="1448435" cy="60896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304020" y="4138930"/>
            <a:ext cx="1266825" cy="60896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036560" y="4130040"/>
            <a:ext cx="1267460" cy="60896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5021580" y="4130040"/>
            <a:ext cx="1571625" cy="60896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1532255" y="4809490"/>
            <a:ext cx="1093470" cy="41910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Operator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2625725" y="5227320"/>
            <a:ext cx="1245235" cy="58102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2625725" y="4806315"/>
            <a:ext cx="1247140" cy="41910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Exclusive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3870960" y="4806950"/>
            <a:ext cx="1151255" cy="41910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Financial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5031105" y="4807585"/>
            <a:ext cx="1571625" cy="41910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Communication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6604635" y="4805045"/>
            <a:ext cx="1440815" cy="41910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Operational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8046720" y="4808220"/>
            <a:ext cx="1256030" cy="41910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Project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9303385" y="4813935"/>
            <a:ext cx="1256030" cy="41910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Technical 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3873500" y="5231765"/>
            <a:ext cx="1141095" cy="58102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6593840" y="5231765"/>
            <a:ext cx="1448435" cy="58102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9302750" y="5240655"/>
            <a:ext cx="1266825" cy="58102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8035290" y="5231765"/>
            <a:ext cx="1267460" cy="58102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71" name="Rectangles 70"/>
          <p:cNvSpPr/>
          <p:nvPr/>
        </p:nvSpPr>
        <p:spPr>
          <a:xfrm>
            <a:off x="5020310" y="5231765"/>
            <a:ext cx="1571625" cy="58102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name ?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" name="Rectangles 26"/>
          <p:cNvSpPr/>
          <p:nvPr/>
        </p:nvSpPr>
        <p:spPr>
          <a:xfrm>
            <a:off x="10549255" y="2356485"/>
            <a:ext cx="1256030" cy="66929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CEDO (Chief Education Officer)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1" name="Rectangles 7"/>
          <p:cNvSpPr/>
          <p:nvPr/>
        </p:nvSpPr>
        <p:spPr>
          <a:xfrm>
            <a:off x="10561320" y="3023870"/>
            <a:ext cx="1256030" cy="57848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3" name="Rectangles 35"/>
          <p:cNvSpPr/>
          <p:nvPr/>
        </p:nvSpPr>
        <p:spPr>
          <a:xfrm>
            <a:off x="10560685" y="3668395"/>
            <a:ext cx="1256030" cy="46482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Technical 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38"/>
          <p:cNvSpPr/>
          <p:nvPr/>
        </p:nvSpPr>
        <p:spPr>
          <a:xfrm>
            <a:off x="10560050" y="4137025"/>
            <a:ext cx="1266825" cy="60896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6" name="Rectangles 65"/>
          <p:cNvSpPr/>
          <p:nvPr/>
        </p:nvSpPr>
        <p:spPr>
          <a:xfrm>
            <a:off x="10559415" y="4812030"/>
            <a:ext cx="1256030" cy="419100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</a:rPr>
              <a:t>Technical 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68"/>
          <p:cNvSpPr/>
          <p:nvPr/>
        </p:nvSpPr>
        <p:spPr>
          <a:xfrm>
            <a:off x="10558780" y="5238750"/>
            <a:ext cx="1266825" cy="581025"/>
          </a:xfrm>
          <a:prstGeom prst="rect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10621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ROADMAP SDGS DESIGN LAB POLTEKSI</a:t>
            </a:r>
            <a:endParaRPr lang="en-US" alt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cxnSp>
        <p:nvCxnSpPr>
          <p:cNvPr id="45" name="Rechte verbindingslijn met pijl 32"/>
          <p:cNvCxnSpPr/>
          <p:nvPr/>
        </p:nvCxnSpPr>
        <p:spPr>
          <a:xfrm>
            <a:off x="586740" y="1784985"/>
            <a:ext cx="1310640" cy="10160"/>
          </a:xfrm>
          <a:prstGeom prst="straightConnector1">
            <a:avLst/>
          </a:prstGeom>
          <a:noFill/>
          <a:ln w="19050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Text Box 2"/>
          <p:cNvSpPr txBox="1"/>
          <p:nvPr/>
        </p:nvSpPr>
        <p:spPr>
          <a:xfrm>
            <a:off x="8766810" y="3768725"/>
            <a:ext cx="2196465" cy="9220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pPr marL="267335" indent="-26733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Croudfunding fundraising (2)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67335" indent="-26733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Operational Goal</a:t>
            </a:r>
            <a:endParaRPr 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82675" y="1419860"/>
            <a:ext cx="1739265" cy="88201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noAutofit/>
          </a:bodyPr>
          <a:p>
            <a:pPr marL="196215" indent="-19621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MOU/ NDA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196215" indent="-19621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Board formulation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536825" y="3782060"/>
            <a:ext cx="1979930" cy="9220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p>
            <a:pPr marL="198755" indent="-19875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Business plan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198755" indent="-19875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Feasibility study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116705" y="1386205"/>
            <a:ext cx="1718310" cy="9220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pPr marL="248920" indent="-248920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Legalisation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59080" indent="-259080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Education program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613400" y="3768725"/>
            <a:ext cx="1885950" cy="9220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pPr marL="243205" indent="-24320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Croudfunding fundraising (1)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43205" indent="-24320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Construction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7318375" y="1379220"/>
            <a:ext cx="1815465" cy="9220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pPr marL="244475" indent="-24447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Opening month (pilot)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44475" indent="-244475">
              <a:buFont typeface="Arial" panose="020B0604020202020204" pitchFamily="34" charset="0"/>
              <a:buChar char="•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Operations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13" name="Straight Connector 12"/>
          <p:cNvCxnSpPr>
            <a:stCxn id="14" idx="2"/>
            <a:endCxn id="20" idx="6"/>
          </p:cNvCxnSpPr>
          <p:nvPr/>
        </p:nvCxnSpPr>
        <p:spPr>
          <a:xfrm flipV="1">
            <a:off x="1789430" y="2969260"/>
            <a:ext cx="8219440" cy="4254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789430" y="2867025"/>
            <a:ext cx="318770" cy="2895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</a:rPr>
              <a:t>1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367405" y="2858135"/>
            <a:ext cx="318770" cy="2895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</a:rPr>
              <a:t>2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4800600" y="2858135"/>
            <a:ext cx="318770" cy="2895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</a:rPr>
              <a:t>3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14770" y="2824480"/>
            <a:ext cx="318770" cy="2895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</a:rPr>
              <a:t>4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67675" y="2834005"/>
            <a:ext cx="318770" cy="2895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</a:rPr>
              <a:t>5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90100" y="2824480"/>
            <a:ext cx="318770" cy="2895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</a:rPr>
              <a:t>6</a:t>
            </a:r>
            <a:endParaRPr lang="en-US" b="1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stCxn id="14" idx="0"/>
            <a:endCxn id="4" idx="2"/>
          </p:cNvCxnSpPr>
          <p:nvPr/>
        </p:nvCxnSpPr>
        <p:spPr>
          <a:xfrm flipV="1">
            <a:off x="1948815" y="2301875"/>
            <a:ext cx="3810" cy="565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8" idx="0"/>
            <a:endCxn id="16" idx="4"/>
          </p:cNvCxnSpPr>
          <p:nvPr/>
        </p:nvCxnSpPr>
        <p:spPr>
          <a:xfrm flipV="1">
            <a:off x="3526790" y="3147695"/>
            <a:ext cx="0" cy="6343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20" idx="4"/>
            <a:endCxn id="3" idx="0"/>
          </p:cNvCxnSpPr>
          <p:nvPr/>
        </p:nvCxnSpPr>
        <p:spPr>
          <a:xfrm>
            <a:off x="9849485" y="3114040"/>
            <a:ext cx="15875" cy="65468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0"/>
            <a:endCxn id="18" idx="4"/>
          </p:cNvCxnSpPr>
          <p:nvPr/>
        </p:nvCxnSpPr>
        <p:spPr>
          <a:xfrm flipV="1">
            <a:off x="6556375" y="3114040"/>
            <a:ext cx="17780" cy="65468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9" idx="0"/>
            <a:endCxn id="12" idx="2"/>
          </p:cNvCxnSpPr>
          <p:nvPr/>
        </p:nvCxnSpPr>
        <p:spPr>
          <a:xfrm flipH="1" flipV="1">
            <a:off x="8226425" y="2301240"/>
            <a:ext cx="635" cy="5327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7" idx="0"/>
            <a:endCxn id="9" idx="2"/>
          </p:cNvCxnSpPr>
          <p:nvPr/>
        </p:nvCxnSpPr>
        <p:spPr>
          <a:xfrm flipV="1">
            <a:off x="4959985" y="2308225"/>
            <a:ext cx="15875" cy="54991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Text Box 26"/>
          <p:cNvSpPr txBox="1"/>
          <p:nvPr/>
        </p:nvSpPr>
        <p:spPr>
          <a:xfrm>
            <a:off x="434340" y="5474335"/>
            <a:ext cx="348615" cy="26860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434340" y="5842635"/>
            <a:ext cx="348615" cy="2686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434340" y="6177915"/>
            <a:ext cx="348615" cy="26860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039870" y="990600"/>
            <a:ext cx="7094220" cy="4095115"/>
          </a:xfrm>
          <a:prstGeom prst="roundRect">
            <a:avLst/>
          </a:prstGeom>
          <a:solidFill>
            <a:srgbClr val="FFFF00">
              <a:alpha val="30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Text Box 30"/>
          <p:cNvSpPr txBox="1"/>
          <p:nvPr/>
        </p:nvSpPr>
        <p:spPr>
          <a:xfrm>
            <a:off x="782955" y="5474335"/>
            <a:ext cx="1233805" cy="26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1600">
                <a:latin typeface="Bahnschrift SemiBold" panose="020B0502040204020203" charset="0"/>
                <a:cs typeface="Bahnschrift SemiBold" panose="020B0502040204020203" charset="0"/>
              </a:rPr>
              <a:t>ok</a:t>
            </a:r>
            <a:endParaRPr lang="en-US" altLang="en-US"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782955" y="5842635"/>
            <a:ext cx="1233805" cy="26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1600">
                <a:latin typeface="Bahnschrift SemiBold" panose="020B0502040204020203" charset="0"/>
                <a:cs typeface="Bahnschrift SemiBold" panose="020B0502040204020203" charset="0"/>
              </a:rPr>
              <a:t>in progress</a:t>
            </a:r>
            <a:endParaRPr lang="en-US" altLang="en-US"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82955" y="6177915"/>
            <a:ext cx="1233805" cy="26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1600">
                <a:latin typeface="Bahnschrift SemiBold" panose="020B0502040204020203" charset="0"/>
                <a:cs typeface="Bahnschrift SemiBold" panose="020B0502040204020203" charset="0"/>
              </a:rPr>
              <a:t>not yet</a:t>
            </a:r>
            <a:endParaRPr lang="en-US" altLang="en-US"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4039235" y="5474335"/>
            <a:ext cx="7094220" cy="53721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 anchorCtr="0">
            <a:noAutofit/>
          </a:bodyPr>
          <a:p>
            <a:pPr indent="0" algn="ctr">
              <a:buFont typeface="Arial" panose="020B0604020202020204" pitchFamily="34" charset="0"/>
              <a:buNone/>
            </a:pPr>
            <a:r>
              <a:rPr lang="en-US" altLang="en-US" sz="2400">
                <a:latin typeface="Bahnschrift SemiBold" panose="020B0502040204020203" charset="0"/>
                <a:cs typeface="Bahnschrift SemiBold" panose="020B0502040204020203" charset="0"/>
              </a:rPr>
              <a:t>kegiatan yang melibatkan mahasiswa</a:t>
            </a:r>
            <a:endParaRPr lang="en-US" altLang="en-US" sz="24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4" grpId="0" animBg="1"/>
      <p:bldP spid="30" grpId="1" animBg="1"/>
      <p:bldP spid="3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10621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SUSTAINABLE DEVELOPMENT GOALS</a:t>
            </a:r>
            <a:endParaRPr lang="en-US" alt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497840" y="1064260"/>
            <a:ext cx="7811770" cy="222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No Poverty (Tanpa Kemiskinan)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Zero Hunger (Tanpa Kelaparan)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Good Health and Well-being (Kehidupan Sehat dan Sejahtera)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Quality Education (Pendidikan Berkualitas)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Gender Equality (Kesetaraan Gender)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Clean Water and Sanitation (Air Bersih dan Sanitasi Layak)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Affordable and Clean Energy (Energi Bersih dan Terjangkau)  </a:t>
            </a:r>
            <a:endParaRPr lang="en-US">
              <a:latin typeface="Rockwell" panose="02060603020205020403" pitchFamily="18" charset="0"/>
              <a:cs typeface="Rockwell" panose="02060603020205020403" pitchFamily="18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490" y="1064260"/>
            <a:ext cx="3517265" cy="2128520"/>
          </a:xfrm>
          <a:prstGeom prst="rect">
            <a:avLst/>
          </a:prstGeom>
        </p:spPr>
      </p:pic>
      <p:sp>
        <p:nvSpPr>
          <p:cNvPr id="43" name="Text Box 42"/>
          <p:cNvSpPr txBox="1"/>
          <p:nvPr/>
        </p:nvSpPr>
        <p:spPr>
          <a:xfrm>
            <a:off x="497840" y="3210560"/>
            <a:ext cx="11179810" cy="3136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Decent Work and Economic Growth (Pekerjaan Layak dan Pertumbuhan Ekonomi)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Industry, Innovation, and Infrastructure (Industri, Inovasi, dan Infrastruktur)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Reduced Inequalities (Berkurangnya Ketimpangan)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Sustainable Cities and Communities (Kota dan Permukiman Berkelanjutan)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Responsible Consumption and Production (Konsumsi dan Produksi yang Bertanggung Jawab)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Climate Action (Penanganan Perubahan Iklim)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Life Below </a:t>
            </a: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Water (Ekosistem Lautan)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Life on Land (Ekosistem Daratan) 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Peace, Justice, and Strong Institutions (Perdamaian, Keadilan, dan Kelembagaan Tangguh)</a:t>
            </a:r>
            <a:endParaRPr lang="en-US" altLang="en-US">
              <a:latin typeface="Rockwell" panose="02060603020205020403" pitchFamily="18" charset="0"/>
              <a:cs typeface="Rockwell" panose="02060603020205020403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8"/>
            </a:pPr>
            <a:r>
              <a:rPr lang="en-US" altLang="en-US">
                <a:latin typeface="Rockwell" panose="02060603020205020403" pitchFamily="18" charset="0"/>
                <a:cs typeface="Rockwell" panose="02060603020205020403" pitchFamily="18" charset="0"/>
              </a:rPr>
              <a:t>Partnerships for the Goals (Kemitraan untuk Mencapai Tujuan) </a:t>
            </a:r>
            <a:endParaRPr lang="en-US">
              <a:latin typeface="Rockwell" panose="02060603020205020403" pitchFamily="18" charset="0"/>
              <a:cs typeface="Rockwell" panose="020606030202050204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920750"/>
            <a:ext cx="12192000" cy="5937250"/>
          </a:xfrm>
          <a:prstGeom prst="rect">
            <a:avLst/>
          </a:prstGeom>
        </p:spPr>
      </p:pic>
      <p:sp>
        <p:nvSpPr>
          <p:cNvPr id="3" name="object 2"/>
          <p:cNvSpPr txBox="1">
            <a:spLocks noGrp="1"/>
          </p:cNvSpPr>
          <p:nvPr/>
        </p:nvSpPr>
        <p:spPr>
          <a:xfrm>
            <a:off x="-12065" y="3963670"/>
            <a:ext cx="1220978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1" i="0">
                <a:solidFill>
                  <a:srgbClr val="FFFF00"/>
                </a:solidFill>
                <a:latin typeface="Arial Rounded MT Bold" panose="020F0704030504030204"/>
                <a:ea typeface="+mj-ea"/>
                <a:cs typeface="Arial Rounded MT Bold" panose="020F0704030504030204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7200">
                <a:solidFill>
                  <a:schemeClr val="tx1"/>
                </a:solidFill>
                <a:latin typeface="Arial Rounded MT Bold" panose="020F0704030504030204"/>
                <a:cs typeface="Arial Rounded MT Bold" panose="020F0704030504030204"/>
              </a:rPr>
              <a:t>TERIMA KASIH</a:t>
            </a:r>
            <a:endParaRPr lang="en-US" sz="7200">
              <a:solidFill>
                <a:schemeClr val="tx1"/>
              </a:solidFill>
              <a:latin typeface="Arial Rounded MT Bold" panose="020F0704030504030204"/>
              <a:cs typeface="Arial Rounded MT Bold" panose="020F07040305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CHIEF EXCLUSIVE OFFICER (CEO)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12445" y="925830"/>
            <a:ext cx="11155045" cy="57664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The Chief Executive Officer of SDG DesignLab is responsible for decision-making and will be guided and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advised by the board of advisors.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9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Key Responsibilities: Manager of the board, decision maker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9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Responsibilities include: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Advise strategies and policies to meet the SDG DesignLab goals.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Managing and supervising the day-to-day tasks of the board.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Analysing board functions, audit reports, and formulating improvements to the departmental workings of the board.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Develop board strategies.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Compiling performance reports and reporting to the board of advisors.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Analyse problematic situations and occurrences and provide solutions to ensure company survival and growth.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Communication with stakeholders and investors.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Train the assistant CEO manager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Evaluation report.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Report to the board of advisors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Able and willing to present a cohesive vision and strategy to the board of advisors.</a:t>
            </a:r>
            <a:endParaRPr 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CHIEF FINANCIAL OFFICER (CFO)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67055" y="990600"/>
            <a:ext cx="11471910" cy="5656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The Chief Financial Officer of SBDI is responsible for the financial process and strategy of the SBDI Centre.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7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Key Responsibilities: Guard the financials, make financial reports.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7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Responsibilities include: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Advise strategies and policies to meet theSDG DesignLab goals.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Managing and supervising the day-to-day financials of the SDG DesignLab.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Analysing financial and audit reports and formulating improvements to departmental workings of the board.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Develop financial transparency strategy.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Financial stakeholders report.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Financial donation reports.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Financial fundraising report.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Start-ups report.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Financial communication stakeholders and investors.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Automation strategy.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Evaluation report.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Train the assistant CFO manager.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Report to the CEO.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He is able and willing to present a cohesive vision and strategy to the board of advisors</a:t>
            </a:r>
            <a:endParaRPr 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CHIEF COMMUNICATION OFFICER (CCO)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61340" y="921385"/>
            <a:ext cx="11068685" cy="3744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The Chief Communication Officer of the SDG DesignLab executive team reports to the board of directors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and leads our superb in-house marketing team. The duties will include managing all marketing operations,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assessing and improving existing initiatives, devising new strategies to increase revenue, and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complementing the organisation’s objectives.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In charge of excellent leadership and campaign planning skills to successfully guide the team, and has a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vast knowledge of current marketing trends.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Key Responsibilities: Developing and Managing Advertising Campaigns, organising (company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conferences, trade shows, and events), Overseeing Marketing (social media marketing strategy and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content marketing), Building Brand Awareness and Positioning.</a:t>
            </a:r>
            <a:endParaRPr 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CHIEF COMMUNICATION OFFICER (CCO)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61340" y="922020"/>
            <a:ext cx="11068685" cy="4408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Responsibilities include: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Planning, implementing, and overseeing all marketing and advertising campaigns.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Developing a communication strategy.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Growing and developing the in-house marketing team.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Building a network of reliable external agencies and marketing professionals.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Conducting market research and staying abreast of competitor positioning.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Contributing to new business development initiatives.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Marketing budget management.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Internal and external communication.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Communication to stakeholders and investors.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Evaluation report.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Report to the CEO.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Train the assistant CCO manager</a:t>
            </a:r>
            <a:endParaRPr 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CHIEF OPERATIONAL OFFICER (COO)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4830" y="921385"/>
            <a:ext cx="10852150" cy="45180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The Chief Operational Officer from SDG DesignLab is responsible for all operational tasks. He will guide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3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the operational management and will develop operational strategies.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8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3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Key Responsibilities: Operational strategy, operational management.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9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3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Responsibilities include: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Communicate with operational stakeholders.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Develop operational strategy.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Budgeting operational cost.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Train operational manager.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Evaluation report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Report to CEO.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Manage conflicts</a:t>
            </a:r>
            <a:endParaRPr 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CHIEF PROJECT OFFICER (CPO)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31825" y="922020"/>
            <a:ext cx="11045825" cy="449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The Chief Project Officer from SDG DesignLab is responsible all the projects within the SDG DesignLab.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8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Key Responsibilities: Operational strategy, operational management.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9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Responsibilities include: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Project development.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Start-ups monitoring.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Project strategy.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Train project manager.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Evaluation start-ups report.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Investment relations.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Start-ups screening.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Report to CEO.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endParaRPr 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414000" y="0"/>
            <a:ext cx="1701800" cy="990600"/>
            <a:chOff x="10414000" y="0"/>
            <a:chExt cx="1701800" cy="990600"/>
          </a:xfrm>
        </p:grpSpPr>
        <p:pic>
          <p:nvPicPr>
            <p:cNvPr id="6" name="image1.jpg" descr="Description: Description: Logo, company name&#10;&#10;Description automatically generated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11049000" y="0"/>
              <a:ext cx="1066800" cy="990600"/>
            </a:xfrm>
            <a:prstGeom prst="rect">
              <a:avLst/>
            </a:prstGeom>
            <a:solidFill>
              <a:srgbClr val="FF0000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10414000" y="152400"/>
              <a:ext cx="635000" cy="7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8790305" y="6375400"/>
            <a:ext cx="2887345" cy="3314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7990" y="57150"/>
            <a:ext cx="9986010" cy="86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8FFF9"/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rial Rounded MT Bold" panose="020F0704030504030204" pitchFamily="34" charset="0"/>
              </a:rPr>
              <a:t>CHIEF TECHNICAL OFFICER (CTO) </a:t>
            </a:r>
            <a:endParaRPr lang="en-US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rial Rounded MT Bold" panose="020F07040305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31825" y="922020"/>
            <a:ext cx="11045825" cy="52114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The Chief Technical Officer from SDG DesignLab is responsible for all the technical aspects within the SDG DesignLab. 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9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Key Responsibilities: Technical maintenance, technical training, technical knowledge transfer, the main goal is to manage the prototype lab, up to date, and observe the latest trends of new technologies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80000"/>
              </a:lnSpc>
            </a:pP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>
              <a:lnSpc>
                <a:spcPct val="120000"/>
              </a:lnSpc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Responsibilities include: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Product development.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Start-ups monitoring.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Project strategy.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Train technical manager.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Evaluation start-up report.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Process communication.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Technical start-ups screening.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Manage protolab</a:t>
            </a:r>
            <a:endParaRPr lang="en-US" altLang="en-US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en-US" altLang="en-US">
                <a:latin typeface="Bahnschrift SemiBold" panose="020B0502040204020203" charset="0"/>
                <a:cs typeface="Bahnschrift SemiBold" panose="020B0502040204020203" charset="0"/>
              </a:rPr>
              <a:t>Report to CEO.</a:t>
            </a:r>
            <a:endParaRPr 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879*260"/>
  <p:tag name="TABLE_ENDDRAG_RECT" val="40*241*879*260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9847</Words>
  <Application>WPS Presentation</Application>
  <PresentationFormat>Widescreen</PresentationFormat>
  <Paragraphs>461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SimSun</vt:lpstr>
      <vt:lpstr>Wingdings</vt:lpstr>
      <vt:lpstr>Arial Rounded MT Bold</vt:lpstr>
      <vt:lpstr>Calibri</vt:lpstr>
      <vt:lpstr>Arial Rounded MT Bold</vt:lpstr>
      <vt:lpstr>Microsoft JhengHei UI</vt:lpstr>
      <vt:lpstr>Wingdings</vt:lpstr>
      <vt:lpstr>Bahnschrift SemiBold</vt:lpstr>
      <vt:lpstr>Times New Roman</vt:lpstr>
      <vt:lpstr>Univers Light</vt:lpstr>
      <vt:lpstr>Segoe Print</vt:lpstr>
      <vt:lpstr>Microsoft YaHei</vt:lpstr>
      <vt:lpstr>Arial Unicode MS</vt:lpstr>
      <vt:lpstr>Rockwell</vt:lpstr>
      <vt:lpstr>Calibri</vt:lpstr>
      <vt:lpstr>Arial Black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Asus</dc:creator>
  <cp:lastModifiedBy>Asus</cp:lastModifiedBy>
  <cp:revision>46</cp:revision>
  <dcterms:created xsi:type="dcterms:W3CDTF">2025-05-25T05:25:00Z</dcterms:created>
  <dcterms:modified xsi:type="dcterms:W3CDTF">2026-09-20T22:02:01Z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7ED5B17BBA2940E986F865FA71923576_13</vt:lpwstr>
  </property>
  <property fmtid="{D5CDD505-2E9C-101B-9397-08002B2CF9AE}" pid="3" name="KSOProductBuildVer">
    <vt:lpwstr>1033-12.1.0.28485</vt:lpwstr>
  </property>
</Properties>
</file>