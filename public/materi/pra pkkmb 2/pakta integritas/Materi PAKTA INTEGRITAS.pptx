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-536" y="-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Durasi ±1 menit. Buka dengan salam, ucapkan selamat datang, lalu jelaskan bahwa sesi ini membahas komitmen mahasiswa baru dalam menerima beasiswa.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Durasi ±1 menit. Tekankan bahwa beasiswa bukan hanya bantuan biaya, tetapi juga kepercayaan yang membawa tanggung jawab.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Durasi ±1 menit. Hubungkan beasiswa dengan kesempatan belajar, prestasi, dan tanggung jawab.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Durasi ±1 menit. Tekankan keseimbangan: hak untuk menerima dukungan, kewajiban untuk patuh dan jujur.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Durasi ±1,5 menit. Tegaskan bahwa pakta integritas bukan formalitas tanda tangan, tetapi komitmen yang harus dibuktikan melalui perilaku.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Durasi ±1 menit. Jelaskan lima komitmen dengan contoh singkat yang dekat dengan mahasiswa baru.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Durasi ±1,5 menit. Minta mahasiswa menyebutkan contoh lain. Beri penekanan pada kejujuran data dan komunikasi.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Durasi ±1,5 menit. Ajak mahasiswa menjawab secara spontan. Kunci diskusi: lapor, jujur, siapkan bukti, ikuti arahan.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Durasi ±1 menit. Tampilkan checklist sebagai strategi praktis yang mudah diterapkan mahasiswa baru.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Durasi ±1,5 menit. Pilih 2–3 pertanyaan saja sesuai waktu. Pastikan mahasiswa ikut merespons.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Durasi ±1 menit. Ajak mahasiswa membaca komitmen. Tutup dengan pesan bahwa integritas dibangun dari kebiasaan jujur dan tanggung jawab.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C81E1E"/>
          </a:solidFill>
          <a:ln w="12700">
            <a:solidFill>
              <a:srgbClr val="C81E1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355080" y="4892040"/>
            <a:ext cx="5303520" cy="73152"/>
          </a:xfrm>
          <a:prstGeom prst="rect">
            <a:avLst/>
          </a:prstGeom>
          <a:solidFill>
            <a:srgbClr val="C81E1E"/>
          </a:solidFill>
          <a:ln w="12700">
            <a:solidFill>
              <a:srgbClr val="C81E1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1078992"/>
            <a:ext cx="60948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C81E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PAKTA INTEGRITAS</a:t>
            </a:r>
            <a:endParaRPr lang="en-US" sz="3100" dirty="0"/>
          </a:p>
          <a:p>
            <a:pPr marL="0" indent="0" algn="ctr">
              <a:buNone/>
            </a:pPr>
            <a:r>
              <a:rPr lang="en-US" sz="3100" b="1" dirty="0">
                <a:solidFill>
                  <a:srgbClr val="C81E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BEASISWA</a:t>
            </a:r>
            <a:endParaRPr lang="en-US" sz="3100" dirty="0"/>
          </a:p>
        </p:txBody>
      </p:sp>
      <p:sp>
        <p:nvSpPr>
          <p:cNvPr id="9" name="Text 6"/>
          <p:cNvSpPr/>
          <p:nvPr/>
        </p:nvSpPr>
        <p:spPr>
          <a:xfrm>
            <a:off x="786384" y="3118196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dirty="0" err="1" smtClean="0">
                <a:solidFill>
                  <a:srgbClr val="666666"/>
                </a:solidFill>
              </a:rPr>
              <a:t>Politeknik</a:t>
            </a:r>
            <a:r>
              <a:rPr lang="en-US" sz="1600" dirty="0" smtClean="0">
                <a:solidFill>
                  <a:srgbClr val="666666"/>
                </a:solidFill>
              </a:rPr>
              <a:t> </a:t>
            </a:r>
            <a:r>
              <a:rPr lang="en-US" sz="1600" dirty="0">
                <a:solidFill>
                  <a:srgbClr val="666666"/>
                </a:solidFill>
              </a:rPr>
              <a:t>Semen Indonesia 2026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66666"/>
                </a:solidFill>
              </a:rPr>
              <a:t>Sabtu, 19 September 2026 • 09.10 WIB – selesai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66666"/>
                </a:solidFill>
              </a:rPr>
              <a:t>Tempat: Politeknik Semen </a:t>
            </a:r>
            <a:r>
              <a:rPr lang="en-US" sz="1600" dirty="0" smtClean="0">
                <a:solidFill>
                  <a:srgbClr val="666666"/>
                </a:solidFill>
              </a:rPr>
              <a:t>Indonesia</a:t>
            </a:r>
          </a:p>
          <a:p>
            <a:pPr marL="0" indent="0" algn="ctr">
              <a:buNone/>
            </a:pPr>
            <a:endParaRPr lang="en-US" sz="1600" dirty="0" smtClean="0">
              <a:solidFill>
                <a:srgbClr val="666666"/>
              </a:solidFill>
            </a:endParaRPr>
          </a:p>
          <a:p>
            <a:pPr marL="0" indent="0" algn="ctr">
              <a:buNone/>
            </a:pPr>
            <a:r>
              <a:rPr lang="en-US" sz="1600" b="1" dirty="0" smtClean="0">
                <a:solidFill>
                  <a:srgbClr val="666666"/>
                </a:solidFill>
              </a:rPr>
              <a:t>By : Desie </a:t>
            </a:r>
            <a:r>
              <a:rPr lang="en-US" sz="1600" b="1" dirty="0" err="1" smtClean="0">
                <a:solidFill>
                  <a:srgbClr val="666666"/>
                </a:solidFill>
              </a:rPr>
              <a:t>Wijayanti</a:t>
            </a:r>
            <a:r>
              <a:rPr lang="en-US" sz="1600" b="1" dirty="0" smtClean="0">
                <a:solidFill>
                  <a:srgbClr val="666666"/>
                </a:solidFill>
              </a:rPr>
              <a:t>, S.E., M.M</a:t>
            </a:r>
            <a:endParaRPr lang="en-US" sz="1600" b="1" dirty="0"/>
          </a:p>
        </p:txBody>
      </p:sp>
      <p:sp>
        <p:nvSpPr>
          <p:cNvPr id="10" name="Text 7"/>
          <p:cNvSpPr/>
          <p:nvPr/>
        </p:nvSpPr>
        <p:spPr>
          <a:xfrm>
            <a:off x="694944" y="4572000"/>
            <a:ext cx="5212080" cy="320040"/>
          </a:xfrm>
          <a:prstGeom prst="rect">
            <a:avLst/>
          </a:prstGeom>
          <a:solidFill>
            <a:srgbClr val="C81E1E"/>
          </a:solidFill>
          <a:ln>
            <a:solidFill>
              <a:srgbClr val="C81E1E"/>
            </a:solidFill>
          </a:ln>
        </p:spPr>
        <p:txBody>
          <a:bodyPr wrap="square" lIns="635" tIns="635" rIns="635" bIns="635" rtlCol="0" anchor="ctr"/>
          <a:lstStyle/>
          <a:p>
            <a:pPr algn="ctr"/>
            <a:r>
              <a:rPr lang="en-US" sz="1400" b="1" i="1" dirty="0" err="1" smtClean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Beasiswa</a:t>
            </a:r>
            <a:r>
              <a:rPr lang="en-US" sz="1400" b="1" i="1" dirty="0" smtClean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b="1" i="1" dirty="0" err="1" smtClean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adalah</a:t>
            </a:r>
            <a:r>
              <a:rPr lang="en-US" sz="1400" b="1" i="1" dirty="0" smtClean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b="1" i="1" dirty="0" err="1" smtClean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amanah</a:t>
            </a:r>
            <a:r>
              <a:rPr lang="en-US" sz="1400" b="1" i="1" dirty="0" smtClean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1400" b="1" i="1" dirty="0" err="1" smtClean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bukan</a:t>
            </a:r>
            <a:r>
              <a:rPr lang="en-US" sz="1400" b="1" i="1" dirty="0" smtClean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b="1" i="1" dirty="0" err="1" smtClean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hanya</a:t>
            </a:r>
            <a:r>
              <a:rPr lang="en-US" sz="1400" b="1" i="1" dirty="0" smtClean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b="1" i="1" dirty="0" err="1" smtClean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bantuan</a:t>
            </a:r>
            <a:r>
              <a:rPr lang="en-US" sz="1400" b="1" i="1" dirty="0" smtClean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b="1" i="1" dirty="0" err="1" smtClean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biaya</a:t>
            </a:r>
            <a:r>
              <a:rPr lang="en-US" sz="1400" b="1" i="1" dirty="0" smtClean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400" b="1" dirty="0"/>
          </a:p>
        </p:txBody>
      </p:sp>
      <p:sp>
        <p:nvSpPr>
          <p:cNvPr id="11" name="Shape 8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6675120"/>
            <a:ext cx="7772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</a:rPr>
              <a:t>Politeknik Semen Indonesia • ORVOKS 2026 • Pakta Integritas Beasiswa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11460175" y="6675120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6666"/>
                </a:solidFill>
              </a:rPr>
              <a:t>1</a:t>
            </a:r>
            <a:endParaRPr lang="en-US" sz="750" dirty="0"/>
          </a:p>
        </p:txBody>
      </p:sp>
      <p:pic>
        <p:nvPicPr>
          <p:cNvPr id="25602" name="Picture 2" descr="https://sidistributor.com/wp-content/uploads/2024/11/Kunjungan-Industri-Polteksi-ke-SID-1024x768.jpe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355080" y="493777"/>
            <a:ext cx="5303520" cy="4398264"/>
          </a:xfrm>
          <a:prstGeom prst="rect">
            <a:avLst/>
          </a:prstGeom>
          <a:noFill/>
        </p:spPr>
      </p:pic>
      <p:pic>
        <p:nvPicPr>
          <p:cNvPr id="25603" name="Picture 3" descr="D:\DESIE PENTING\1. PEKERJAAN\BISMILLAH POLITEKNIK SEMEN INDONESIA\PEKERJAAN DILUAR NGAJAR\LOGO POLTEKSI.jpe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0"/>
            <a:ext cx="1021345" cy="11951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C81E1E"/>
          </a:solidFill>
          <a:ln w="12700">
            <a:solidFill>
              <a:srgbClr val="C81E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84048"/>
            <a:ext cx="12191695" cy="36576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21792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50" b="1" dirty="0">
                <a:solidFill>
                  <a:srgbClr val="2F2F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Mengapa Sesi Ini Penting?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502920" y="987552"/>
            <a:ext cx="9052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Beasiswa adalah dukungan pendidikan sekaligus kepercayaan yang harus dijaga.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675120"/>
            <a:ext cx="7772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</a:rPr>
              <a:t>Politeknik Semen Indonesia • ORVOKS 2026 • Pakta Integritas Beasiswa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460175" y="6675120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6666"/>
                </a:solidFill>
              </a:rPr>
              <a:t>2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85800" y="1508760"/>
            <a:ext cx="3337560" cy="2971800"/>
          </a:xfrm>
          <a:prstGeom prst="rect">
            <a:avLst/>
          </a:prstGeom>
          <a:solidFill>
            <a:srgbClr val="FFF5F5"/>
          </a:solidFill>
          <a:ln w="12700">
            <a:solidFill>
              <a:srgbClr val="E6E6E6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C81E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Dukungan pendidikan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50392" y="1947672"/>
            <a:ext cx="3026664" cy="2441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F2F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Membantu keberlangsungan studi mahasiswa.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F2F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Memberi kesempatan untuk mengembangkan potensi dan prestasi.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34840" y="1508760"/>
            <a:ext cx="333756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991B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Hak + tanggung jawab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99432" y="1947672"/>
            <a:ext cx="3026664" cy="2441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F2F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Penerima beasiswa memiliki hak untuk memperoleh dukungan.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F2F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Namun juga wajib memenuhi ketentuan kampus dan pemberi beasiswa.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83880" y="1508760"/>
            <a:ext cx="3337560" cy="2971800"/>
          </a:xfrm>
          <a:prstGeom prst="rect">
            <a:avLst/>
          </a:prstGeom>
          <a:solidFill>
            <a:srgbClr val="FFF5F5"/>
          </a:solidFill>
          <a:ln w="12700">
            <a:solidFill>
              <a:srgbClr val="E6E6E6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C81E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Karakter mahasiswa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348472" y="1947672"/>
            <a:ext cx="3026664" cy="2441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F2F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Pakta integritas membantu membangun sikap jujur, disiplin, transparan, dan bertanggung jawab.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88720" y="5166360"/>
            <a:ext cx="9784080" cy="411480"/>
          </a:xfrm>
          <a:prstGeom prst="rect">
            <a:avLst/>
          </a:prstGeom>
          <a:solidFill>
            <a:srgbClr val="FEE2E2"/>
          </a:solidFill>
          <a:ln>
            <a:solidFill>
              <a:srgbClr val="FECACA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1E1E"/>
                </a:solidFill>
              </a:rPr>
              <a:t>Pesan utama: menerima beasiswa berarti siap menjaga kepercayaan.</a:t>
            </a:r>
            <a:endParaRPr lang="en-US" sz="1600" dirty="0"/>
          </a:p>
        </p:txBody>
      </p:sp>
      <p:pic>
        <p:nvPicPr>
          <p:cNvPr id="17" name="Picture 3" descr="D:\DESIE PENTING\1. PEKERJAAN\BISMILLAH POLITEKNIK SEMEN INDONESIA\PEKERJAAN DILUAR NGAJAR\LOGO POLTEKSI.jpe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170655" y="0"/>
            <a:ext cx="1021345" cy="1195191"/>
          </a:xfrm>
          <a:prstGeom prst="rect">
            <a:avLst/>
          </a:prstGeom>
          <a:noFill/>
        </p:spPr>
      </p:pic>
      <p:sp>
        <p:nvSpPr>
          <p:cNvPr id="18" name="Rectangle 17"/>
          <p:cNvSpPr/>
          <p:nvPr/>
        </p:nvSpPr>
        <p:spPr>
          <a:xfrm>
            <a:off x="1524000" y="3650456"/>
            <a:ext cx="886156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 err="1" smtClean="0"/>
              <a:t>Kesempatan</a:t>
            </a:r>
            <a:r>
              <a:rPr lang="en-US" b="1" dirty="0" smtClean="0"/>
              <a:t> </a:t>
            </a:r>
            <a:r>
              <a:rPr lang="en-US" b="1" dirty="0" smtClean="0"/>
              <a:t>yang </a:t>
            </a:r>
            <a:r>
              <a:rPr lang="en-US" b="1" dirty="0" err="1" smtClean="0"/>
              <a:t>besar</a:t>
            </a:r>
            <a:r>
              <a:rPr lang="en-US" b="1" dirty="0" smtClean="0"/>
              <a:t> </a:t>
            </a:r>
            <a:r>
              <a:rPr lang="en-US" b="1" dirty="0" err="1" smtClean="0"/>
              <a:t>selalu</a:t>
            </a:r>
            <a:r>
              <a:rPr lang="en-US" b="1" dirty="0" smtClean="0"/>
              <a:t> </a:t>
            </a:r>
            <a:r>
              <a:rPr lang="en-US" b="1" dirty="0" err="1" smtClean="0"/>
              <a:t>datang</a:t>
            </a:r>
            <a:r>
              <a:rPr lang="en-US" b="1" dirty="0" smtClean="0"/>
              <a:t> </a:t>
            </a:r>
            <a:r>
              <a:rPr lang="en-US" b="1" dirty="0" err="1" smtClean="0"/>
              <a:t>bersama</a:t>
            </a:r>
            <a:r>
              <a:rPr lang="en-US" b="1" dirty="0" smtClean="0"/>
              <a:t> </a:t>
            </a:r>
            <a:r>
              <a:rPr lang="en-US" b="1" dirty="0" err="1" smtClean="0"/>
              <a:t>tanggung</a:t>
            </a:r>
            <a:r>
              <a:rPr lang="en-US" b="1" dirty="0" smtClean="0"/>
              <a:t> </a:t>
            </a:r>
            <a:r>
              <a:rPr lang="en-US" b="1" dirty="0" err="1" smtClean="0"/>
              <a:t>jawab</a:t>
            </a:r>
            <a:r>
              <a:rPr lang="en-US" b="1" dirty="0" smtClean="0"/>
              <a:t> yang </a:t>
            </a:r>
            <a:r>
              <a:rPr lang="en-US" b="1" dirty="0" err="1" smtClean="0"/>
              <a:t>besar</a:t>
            </a:r>
            <a:r>
              <a:rPr lang="en-US" dirty="0" smtClean="0"/>
              <a:t> </a:t>
            </a:r>
            <a:endParaRPr lang="en-US" dirty="0" smtClean="0"/>
          </a:p>
          <a:p>
            <a:pPr algn="ctr"/>
            <a:r>
              <a:rPr lang="en-US" dirty="0" err="1" smtClean="0"/>
              <a:t>Pakta</a:t>
            </a:r>
            <a:r>
              <a:rPr lang="en-US" dirty="0" smtClean="0"/>
              <a:t> </a:t>
            </a:r>
            <a:r>
              <a:rPr lang="en-US" dirty="0" err="1" smtClean="0"/>
              <a:t>Integritas</a:t>
            </a:r>
            <a:r>
              <a:rPr lang="en-US" dirty="0" smtClean="0"/>
              <a:t> </a:t>
            </a:r>
            <a:r>
              <a:rPr lang="en-US" dirty="0" err="1" smtClean="0"/>
              <a:t>membantu</a:t>
            </a:r>
            <a:r>
              <a:rPr lang="en-US" dirty="0" smtClean="0"/>
              <a:t> </a:t>
            </a:r>
            <a:r>
              <a:rPr lang="en-US" dirty="0" err="1" smtClean="0"/>
              <a:t>kita</a:t>
            </a:r>
            <a:r>
              <a:rPr lang="en-US" dirty="0" smtClean="0"/>
              <a:t> </a:t>
            </a:r>
            <a:r>
              <a:rPr lang="en-US" dirty="0" err="1" smtClean="0"/>
              <a:t>memahami</a:t>
            </a:r>
            <a:r>
              <a:rPr lang="en-US" dirty="0" smtClean="0"/>
              <a:t> </a:t>
            </a:r>
            <a:r>
              <a:rPr lang="en-US" dirty="0" err="1" smtClean="0"/>
              <a:t>apa</a:t>
            </a:r>
            <a:r>
              <a:rPr lang="en-US" dirty="0" smtClean="0"/>
              <a:t> yang </a:t>
            </a:r>
            <a:r>
              <a:rPr lang="en-US" dirty="0" err="1" smtClean="0"/>
              <a:t>menjadi</a:t>
            </a:r>
            <a:r>
              <a:rPr lang="en-US" dirty="0" smtClean="0"/>
              <a:t> </a:t>
            </a:r>
            <a:r>
              <a:rPr lang="en-US" dirty="0" err="1" smtClean="0"/>
              <a:t>hak</a:t>
            </a:r>
            <a:r>
              <a:rPr lang="en-US" dirty="0" smtClean="0"/>
              <a:t>, </a:t>
            </a:r>
            <a:r>
              <a:rPr lang="en-US" dirty="0" err="1" smtClean="0"/>
              <a:t>kewajiban</a:t>
            </a:r>
            <a:r>
              <a:rPr lang="en-US" dirty="0" smtClean="0"/>
              <a:t>, </a:t>
            </a:r>
            <a:r>
              <a:rPr lang="en-US" dirty="0" err="1" smtClean="0"/>
              <a:t>komitmen</a:t>
            </a:r>
            <a:r>
              <a:rPr lang="en-US" dirty="0" smtClean="0"/>
              <a:t>,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tanggung</a:t>
            </a:r>
            <a:r>
              <a:rPr lang="en-US" dirty="0" smtClean="0"/>
              <a:t> </a:t>
            </a:r>
            <a:r>
              <a:rPr lang="en-US" dirty="0" err="1" smtClean="0"/>
              <a:t>jawab</a:t>
            </a:r>
            <a:r>
              <a:rPr lang="en-US" dirty="0" smtClean="0"/>
              <a:t> </a:t>
            </a:r>
            <a:r>
              <a:rPr lang="en-US" dirty="0" err="1" smtClean="0"/>
              <a:t>selama</a:t>
            </a:r>
            <a:r>
              <a:rPr lang="en-US" dirty="0" smtClean="0"/>
              <a:t> </a:t>
            </a:r>
            <a:r>
              <a:rPr lang="en-US" dirty="0" err="1" smtClean="0"/>
              <a:t>menerima</a:t>
            </a:r>
            <a:r>
              <a:rPr lang="en-US" dirty="0" smtClean="0"/>
              <a:t> </a:t>
            </a:r>
            <a:r>
              <a:rPr lang="en-US" dirty="0" err="1" smtClean="0"/>
              <a:t>beasiswa</a:t>
            </a:r>
            <a:r>
              <a:rPr lang="en-US" dirty="0" smtClean="0"/>
              <a:t>. </a:t>
            </a:r>
            <a:endParaRPr lang="en-US" dirty="0" smtClean="0"/>
          </a:p>
          <a:p>
            <a:pPr algn="ctr"/>
            <a:r>
              <a:rPr lang="en-US" dirty="0" err="1" smtClean="0"/>
              <a:t>pembentukan</a:t>
            </a:r>
            <a:r>
              <a:rPr lang="en-US" dirty="0" smtClean="0"/>
              <a:t> </a:t>
            </a:r>
            <a:r>
              <a:rPr lang="en-US" dirty="0" err="1" smtClean="0"/>
              <a:t>sikap</a:t>
            </a:r>
            <a:r>
              <a:rPr lang="en-US" dirty="0" smtClean="0"/>
              <a:t> </a:t>
            </a:r>
            <a:r>
              <a:rPr lang="en-US" b="1" dirty="0" err="1" smtClean="0"/>
              <a:t>jujur</a:t>
            </a:r>
            <a:r>
              <a:rPr lang="en-US" b="1" dirty="0" smtClean="0"/>
              <a:t>, </a:t>
            </a:r>
            <a:r>
              <a:rPr lang="en-US" b="1" dirty="0" err="1" smtClean="0"/>
              <a:t>disiplin</a:t>
            </a:r>
            <a:r>
              <a:rPr lang="en-US" b="1" dirty="0" smtClean="0"/>
              <a:t>, </a:t>
            </a:r>
            <a:r>
              <a:rPr lang="en-US" b="1" dirty="0" err="1" smtClean="0"/>
              <a:t>transparan</a:t>
            </a:r>
            <a:r>
              <a:rPr lang="en-US" b="1" dirty="0" smtClean="0"/>
              <a:t>, </a:t>
            </a:r>
            <a:r>
              <a:rPr lang="en-US" b="1" dirty="0" err="1" smtClean="0"/>
              <a:t>dan</a:t>
            </a:r>
            <a:r>
              <a:rPr lang="en-US" b="1" dirty="0" smtClean="0"/>
              <a:t> </a:t>
            </a:r>
            <a:r>
              <a:rPr lang="en-US" b="1" dirty="0" err="1" smtClean="0"/>
              <a:t>bertanggung</a:t>
            </a:r>
            <a:r>
              <a:rPr lang="en-US" b="1" dirty="0" smtClean="0"/>
              <a:t> </a:t>
            </a:r>
            <a:r>
              <a:rPr lang="en-US" b="1" dirty="0" err="1" smtClean="0"/>
              <a:t>jawab</a:t>
            </a:r>
            <a:r>
              <a:rPr lang="en-US" dirty="0" smtClean="0"/>
              <a:t>.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C81E1E"/>
          </a:solidFill>
          <a:ln w="12700">
            <a:solidFill>
              <a:srgbClr val="C81E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84048"/>
            <a:ext cx="12191695" cy="36576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21792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50" b="1" dirty="0">
                <a:solidFill>
                  <a:srgbClr val="2F2F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Pengenalan Beasiswa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502920" y="987552"/>
            <a:ext cx="9052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Beasiswa perlu dipahami sebagai sarana mendukung studi, bukan sebagai bantuan tanpa tanggung jawab.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675120"/>
            <a:ext cx="7772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</a:rPr>
              <a:t>Politeknik Semen Indonesia • ORVOKS 2026 • Pakta Integritas Beasiswa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460175" y="6675120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6666"/>
                </a:solidFill>
              </a:rPr>
              <a:t>4</a:t>
            </a:r>
            <a:endParaRPr lang="en-US" sz="750" dirty="0"/>
          </a:p>
        </p:txBody>
      </p:sp>
      <p:pic>
        <p:nvPicPr>
          <p:cNvPr id="10" name="Image 0" descr="/mnt/data/class_portrait.jpg"/>
          <p:cNvPicPr>
            <a:picLocks noChangeAspect="1"/>
          </p:cNvPicPr>
          <p:nvPr/>
        </p:nvPicPr>
        <p:blipFill>
          <a:blip r:embed="rId3"/>
          <a:srcRect t="5766" b="5766"/>
          <a:stretch/>
        </p:blipFill>
        <p:spPr>
          <a:xfrm>
            <a:off x="685800" y="1572768"/>
            <a:ext cx="3703320" cy="41605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709160" y="1554480"/>
            <a:ext cx="3108960" cy="1993392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C81E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Apa itu beasiswa?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873752" y="1993392"/>
            <a:ext cx="2798064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F2F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Bentuk dukungan pendidikan untuk membantu proses belajar mahasiswa.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F2F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Memberi kesempatan mahasiswa mengembangkan potensi, prestasi, dan karakter.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138160" y="1554480"/>
            <a:ext cx="3108960" cy="1993392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991B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Untuk apa beasiswa?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302752" y="1993392"/>
            <a:ext cx="2798064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F2F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Mendukung keberhasilan pendidikan.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F2F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Mendorong prestasi akademik dan non-akademik.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F2F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Membantu mahasiswa menyelesaikan studi sesuai ketentuan.</a:t>
            </a:r>
            <a:endParaRPr lang="en-US" sz="1300" dirty="0"/>
          </a:p>
        </p:txBody>
      </p:sp>
      <p:pic>
        <p:nvPicPr>
          <p:cNvPr id="17" name="Picture 3" descr="D:\DESIE PENTING\1. PEKERJAAN\BISMILLAH POLITEKNIK SEMEN INDONESIA\PEKERJAAN DILUAR NGAJAR\LOGO POLTEKSI.jpe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1170655" y="0"/>
            <a:ext cx="1021345" cy="1195191"/>
          </a:xfrm>
          <a:prstGeom prst="rect">
            <a:avLst/>
          </a:prstGeom>
          <a:noFill/>
        </p:spPr>
      </p:pic>
      <p:sp>
        <p:nvSpPr>
          <p:cNvPr id="18433" name="Rectangle 1"/>
          <p:cNvSpPr>
            <a:spLocks noChangeArrowheads="1"/>
          </p:cNvSpPr>
          <p:nvPr/>
        </p:nvSpPr>
        <p:spPr bwMode="auto">
          <a:xfrm>
            <a:off x="4530852" y="3714750"/>
            <a:ext cx="6662530" cy="27084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b="1" dirty="0" err="1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Beasiswa</a:t>
            </a:r>
            <a:r>
              <a:rPr lang="en-US" sz="1200" b="1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sz="1200" b="1" dirty="0" err="1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bukan</a:t>
            </a:r>
            <a:r>
              <a:rPr lang="en-US" sz="1200" b="1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sz="1200" b="1" dirty="0" err="1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sekadar</a:t>
            </a:r>
            <a:r>
              <a:rPr lang="en-US" sz="1200" b="1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sz="1200" b="1" dirty="0" err="1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uang</a:t>
            </a:r>
            <a:r>
              <a:rPr lang="en-US" sz="1200" b="1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b="1" dirty="0" err="1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Beasiswa</a:t>
            </a:r>
            <a:r>
              <a:rPr lang="en-US" sz="1200" b="1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sz="1200" b="1" dirty="0" err="1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adalah</a:t>
            </a:r>
            <a:r>
              <a:rPr lang="en-US" sz="1200" b="1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sz="1200" b="1" dirty="0" err="1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dukungan</a:t>
            </a:r>
            <a:r>
              <a:rPr lang="en-US" sz="1200" b="1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sz="1200" b="1" dirty="0" err="1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pendidikan</a:t>
            </a:r>
            <a:r>
              <a:rPr lang="en-US" sz="1200" b="1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b="1" dirty="0" err="1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Tujuannya</a:t>
            </a:r>
            <a:r>
              <a:rPr lang="en-US" sz="1200" b="1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agar </a:t>
            </a:r>
            <a:r>
              <a:rPr lang="en-US" sz="1200" b="1" dirty="0" err="1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kita</a:t>
            </a:r>
            <a:r>
              <a:rPr lang="en-US" sz="1200" b="1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sz="1200" b="1" dirty="0" err="1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bisa</a:t>
            </a:r>
            <a:r>
              <a:rPr lang="en-US" sz="1200" b="1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sz="1200" b="1" dirty="0" err="1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belajar</a:t>
            </a:r>
            <a:r>
              <a:rPr lang="en-US" sz="1200" b="1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sz="1200" b="1" dirty="0" err="1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dengan</a:t>
            </a:r>
            <a:r>
              <a:rPr lang="en-US" sz="1200" b="1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sz="1200" b="1" dirty="0" err="1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lebih</a:t>
            </a:r>
            <a:r>
              <a:rPr lang="en-US" sz="1200" b="1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sz="1200" b="1" dirty="0" err="1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baik</a:t>
            </a:r>
            <a:r>
              <a:rPr lang="en-US" sz="1200" b="1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, </a:t>
            </a:r>
            <a:r>
              <a:rPr lang="en-US" sz="1200" b="1" dirty="0" err="1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mengembangkan</a:t>
            </a:r>
            <a:r>
              <a:rPr lang="en-US" sz="1200" b="1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sz="1200" b="1" dirty="0" err="1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potensi</a:t>
            </a:r>
            <a:r>
              <a:rPr lang="en-US" sz="1200" b="1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, </a:t>
            </a:r>
            <a:r>
              <a:rPr lang="en-US" sz="1200" b="1" dirty="0" err="1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meningkatkan</a:t>
            </a:r>
            <a:r>
              <a:rPr lang="en-US" sz="1200" b="1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sz="1200" b="1" dirty="0" err="1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prestasi</a:t>
            </a:r>
            <a:r>
              <a:rPr lang="en-US" sz="1200" b="1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, </a:t>
            </a:r>
            <a:endParaRPr lang="en-US" sz="1200" b="1" dirty="0" smtClean="0">
              <a:latin typeface="Calibri" pitchFamily="34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b="1" dirty="0" err="1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dan</a:t>
            </a:r>
            <a:r>
              <a:rPr lang="en-US" sz="1200" b="1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sz="1200" b="1" dirty="0" err="1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menyelesaikan</a:t>
            </a:r>
            <a:r>
              <a:rPr lang="en-US" sz="1200" b="1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sz="1200" b="1" dirty="0" err="1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studi</a:t>
            </a:r>
            <a:r>
              <a:rPr lang="en-US" sz="1200" b="1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sz="1200" b="1" dirty="0" err="1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sesuai</a:t>
            </a:r>
            <a:r>
              <a:rPr lang="en-US" sz="1200" b="1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sz="1200" b="1" dirty="0" err="1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ketentuan</a:t>
            </a:r>
            <a:r>
              <a:rPr lang="en-US" sz="1200" b="1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200" b="1" dirty="0" smtClean="0">
              <a:latin typeface="Calibri" pitchFamily="34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b="1" dirty="0" err="1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Ingat</a:t>
            </a:r>
            <a:r>
              <a:rPr lang="en-US" sz="1200" b="1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 </a:t>
            </a:r>
            <a:r>
              <a:rPr lang="en-US" sz="1200" b="1" dirty="0" err="1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cara</a:t>
            </a:r>
            <a:r>
              <a:rPr lang="en-US" sz="1200" b="1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sz="1200" b="1" dirty="0" err="1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berpikir</a:t>
            </a:r>
            <a:r>
              <a:rPr lang="en-US" sz="1200" b="1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sz="1200" b="1" dirty="0" err="1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kita</a:t>
            </a:r>
            <a:r>
              <a:rPr lang="en-US" sz="1200" b="1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sz="1200" b="1" dirty="0" err="1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jangan</a:t>
            </a:r>
            <a:r>
              <a:rPr lang="en-US" sz="1200" b="1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sz="1200" b="1" dirty="0" err="1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hanya</a:t>
            </a:r>
            <a:r>
              <a:rPr lang="en-US" sz="1200" b="1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: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b="1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“</a:t>
            </a:r>
            <a:r>
              <a:rPr lang="en-US" sz="1200" b="1" dirty="0" err="1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Saya</a:t>
            </a:r>
            <a:r>
              <a:rPr lang="en-US" sz="1200" b="1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sz="1200" b="1" dirty="0" err="1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mendapatkan</a:t>
            </a:r>
            <a:r>
              <a:rPr lang="en-US" sz="1200" b="1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sz="1200" b="1" dirty="0" err="1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bantuan</a:t>
            </a:r>
            <a:r>
              <a:rPr lang="en-US" sz="1200" b="1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.”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b="1" dirty="0" err="1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Tetapi</a:t>
            </a:r>
            <a:r>
              <a:rPr lang="en-US" sz="1200" b="1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sz="1200" b="1" dirty="0" err="1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ubah</a:t>
            </a:r>
            <a:r>
              <a:rPr lang="en-US" sz="1200" b="1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sz="1200" b="1" dirty="0" err="1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menjadi</a:t>
            </a:r>
            <a:r>
              <a:rPr lang="en-US" sz="1200" b="1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: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b="1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“</a:t>
            </a:r>
            <a:r>
              <a:rPr lang="en-US" sz="1200" b="1" dirty="0" err="1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Saya</a:t>
            </a:r>
            <a:r>
              <a:rPr lang="en-US" sz="1200" b="1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sz="1200" b="1" dirty="0" err="1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mendapatkan</a:t>
            </a:r>
            <a:r>
              <a:rPr lang="en-US" sz="1200" b="1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sz="1200" b="1" dirty="0" err="1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kesempatan</a:t>
            </a:r>
            <a:r>
              <a:rPr lang="en-US" sz="1200" b="1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.”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b="1" dirty="0" err="1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Kesempatan</a:t>
            </a:r>
            <a:r>
              <a:rPr lang="en-US" sz="1200" b="1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sz="1200" b="1" dirty="0" err="1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untuk</a:t>
            </a:r>
            <a:r>
              <a:rPr lang="en-US" sz="1200" b="1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sz="1200" b="1" dirty="0" err="1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belajar</a:t>
            </a:r>
            <a:r>
              <a:rPr lang="en-US" sz="1200" b="1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b="1" dirty="0" err="1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Kesempatan</a:t>
            </a:r>
            <a:r>
              <a:rPr lang="en-US" sz="1200" b="1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sz="1200" b="1" dirty="0" err="1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untuk</a:t>
            </a:r>
            <a:r>
              <a:rPr lang="en-US" sz="1200" b="1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sz="1200" b="1" dirty="0" err="1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berkembang</a:t>
            </a:r>
            <a:r>
              <a:rPr lang="en-US" sz="1200" b="1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b="1" dirty="0" err="1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Kesempatan</a:t>
            </a:r>
            <a:r>
              <a:rPr lang="en-US" sz="1200" b="1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sz="1200" b="1" dirty="0" err="1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untuk</a:t>
            </a:r>
            <a:r>
              <a:rPr lang="en-US" sz="1200" b="1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sz="1200" b="1" dirty="0" err="1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membuktikan</a:t>
            </a:r>
            <a:r>
              <a:rPr lang="en-US" sz="1200" b="1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sz="1200" b="1" dirty="0" err="1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kemampuan</a:t>
            </a:r>
            <a:r>
              <a:rPr lang="en-US" sz="1200" b="1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b="1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Dan </a:t>
            </a:r>
            <a:r>
              <a:rPr lang="en-US" sz="1200" b="1" dirty="0" err="1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kesempatan</a:t>
            </a:r>
            <a:r>
              <a:rPr lang="en-US" sz="1200" b="1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sz="1200" b="1" dirty="0" err="1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untuk</a:t>
            </a:r>
            <a:r>
              <a:rPr lang="en-US" sz="1200" b="1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sz="1200" b="1" dirty="0" err="1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membuat</a:t>
            </a:r>
            <a:r>
              <a:rPr lang="en-US" sz="1200" b="1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sz="1200" b="1" dirty="0" err="1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orang</a:t>
            </a:r>
            <a:r>
              <a:rPr lang="en-US" sz="1200" b="1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sz="1200" b="1" dirty="0" err="1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tua</a:t>
            </a:r>
            <a:r>
              <a:rPr lang="en-US" sz="1200" b="1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sz="1200" b="1" dirty="0" err="1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maupun</a:t>
            </a:r>
            <a:r>
              <a:rPr lang="en-US" sz="1200" b="1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sz="1200" b="1" dirty="0" err="1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kampus</a:t>
            </a:r>
            <a:r>
              <a:rPr lang="en-US" sz="1200" b="1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sz="1200" b="1" dirty="0" err="1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bangga</a:t>
            </a:r>
            <a:r>
              <a:rPr lang="en-US" sz="1200" b="1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b="1" dirty="0" err="1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Karena</a:t>
            </a:r>
            <a:r>
              <a:rPr lang="en-US" sz="1200" b="1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sz="1200" b="1" dirty="0" err="1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itu</a:t>
            </a:r>
            <a:r>
              <a:rPr lang="en-US" sz="1200" b="1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, </a:t>
            </a:r>
            <a:r>
              <a:rPr lang="en-US" sz="1200" b="1" dirty="0" err="1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beasiswa</a:t>
            </a:r>
            <a:r>
              <a:rPr lang="en-US" sz="1200" b="1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sz="1200" b="1" dirty="0" err="1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harus</a:t>
            </a:r>
            <a:r>
              <a:rPr lang="en-US" sz="1200" b="1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sz="1200" b="1" dirty="0" err="1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dimanfaatkan</a:t>
            </a:r>
            <a:r>
              <a:rPr lang="en-US" sz="1200" b="1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sz="1200" b="1" dirty="0" err="1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untuk</a:t>
            </a:r>
            <a:r>
              <a:rPr lang="en-US" sz="1200" b="1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sz="1200" b="1" dirty="0" err="1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mendukung</a:t>
            </a:r>
            <a:r>
              <a:rPr lang="en-US" sz="1200" b="1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sz="1200" b="1" dirty="0" err="1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keberhasilan</a:t>
            </a:r>
            <a:r>
              <a:rPr lang="en-US" sz="1200" b="1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sz="1200" b="1" dirty="0" err="1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pendidikan</a:t>
            </a:r>
            <a:r>
              <a:rPr lang="en-US" sz="1400" b="1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C81E1E"/>
          </a:solidFill>
          <a:ln w="12700">
            <a:solidFill>
              <a:srgbClr val="C81E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84048"/>
            <a:ext cx="12191695" cy="36576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21792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50" b="1" dirty="0">
                <a:solidFill>
                  <a:srgbClr val="2F2F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Hak dan Kewajiban Penerima Beasiswa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502920" y="987552"/>
            <a:ext cx="9052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Hak akan berjalan baik jika kewajiban juga dilaksanakan dengan penuh tanggung jawab.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675120"/>
            <a:ext cx="7772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</a:rPr>
              <a:t>Politeknik Semen Indonesia • ORVOKS 2026 • Pakta Integritas Beasiswa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460175" y="6675120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6666"/>
                </a:solidFill>
              </a:rPr>
              <a:t>5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85800" y="1600200"/>
            <a:ext cx="5349240" cy="3931920"/>
          </a:xfrm>
          <a:prstGeom prst="rect">
            <a:avLst/>
          </a:prstGeom>
          <a:solidFill>
            <a:srgbClr val="FFF5F5"/>
          </a:solidFill>
          <a:ln w="12700">
            <a:solidFill>
              <a:srgbClr val="E6E6E6"/>
            </a:solidFill>
          </a:ln>
        </p:spPr>
        <p:txBody>
          <a:bodyPr wrap="square" rtlCol="0" anchor="t">
            <a:normAutofit/>
          </a:bodyPr>
          <a:lstStyle/>
          <a:p>
            <a:r>
              <a:rPr lang="en-US" sz="1400" dirty="0" err="1" smtClean="0"/>
              <a:t>Tetapi</a:t>
            </a:r>
            <a:r>
              <a:rPr lang="en-US" sz="1400" dirty="0" smtClean="0"/>
              <a:t> </a:t>
            </a:r>
            <a:r>
              <a:rPr lang="en-US" sz="1400" dirty="0" err="1" smtClean="0"/>
              <a:t>ingat</a:t>
            </a:r>
            <a:r>
              <a:rPr lang="en-US" sz="1400" dirty="0" smtClean="0"/>
              <a:t>: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50392" y="2039112"/>
            <a:ext cx="5038344" cy="3401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F2F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Mendapat dukungan pendidikan sesuai ketentuan program beasiswa.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F2F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Mendapat informasi dan arahan terkait proses beasiswa.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F2F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Mendapat kesempatan untuk bertanya saat ada kendala.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355080" y="1600200"/>
            <a:ext cx="5166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991B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Kewajiban mahasiswa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519672" y="2039112"/>
            <a:ext cx="4855464" cy="3401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F2F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Memenuhi persyaratan yang berlaku.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F2F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Memberikan data dan dokumen yang benar.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F2F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Menjaga prestasi serta perilaku akademik dan non-akademik.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F2F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Mengikuti pembinaan, monitoring, dan evaluasi.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F2F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Tidak melakukan tindakan yang merugikan kampus atau pemberi beasiswa.</a:t>
            </a:r>
            <a:endParaRPr lang="en-US" sz="1350" dirty="0"/>
          </a:p>
        </p:txBody>
      </p:sp>
      <p:pic>
        <p:nvPicPr>
          <p:cNvPr id="14" name="Picture 3" descr="D:\DESIE PENTING\1. PEKERJAAN\BISMILLAH POLITEKNIK SEMEN INDONESIA\PEKERJAAN DILUAR NGAJAR\LOGO POLTEKSI.jpe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170655" y="0"/>
            <a:ext cx="1021345" cy="1195191"/>
          </a:xfrm>
          <a:prstGeom prst="rect">
            <a:avLst/>
          </a:prstGeom>
          <a:noFill/>
        </p:spPr>
      </p:pic>
      <p:sp>
        <p:nvSpPr>
          <p:cNvPr id="15" name="Rectangle 14"/>
          <p:cNvSpPr/>
          <p:nvPr/>
        </p:nvSpPr>
        <p:spPr>
          <a:xfrm>
            <a:off x="3177310" y="3860800"/>
            <a:ext cx="5133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 err="1" smtClean="0"/>
              <a:t>hak</a:t>
            </a:r>
            <a:r>
              <a:rPr lang="en-US" b="1" dirty="0" smtClean="0"/>
              <a:t> </a:t>
            </a:r>
            <a:r>
              <a:rPr lang="en-US" b="1" dirty="0" err="1" smtClean="0"/>
              <a:t>selalu</a:t>
            </a:r>
            <a:r>
              <a:rPr lang="en-US" b="1" dirty="0" smtClean="0"/>
              <a:t> </a:t>
            </a:r>
            <a:r>
              <a:rPr lang="en-US" b="1" dirty="0" err="1" smtClean="0"/>
              <a:t>berjalan</a:t>
            </a:r>
            <a:r>
              <a:rPr lang="en-US" b="1" dirty="0" smtClean="0"/>
              <a:t> </a:t>
            </a:r>
            <a:r>
              <a:rPr lang="en-US" b="1" dirty="0" err="1" smtClean="0"/>
              <a:t>bersama</a:t>
            </a:r>
            <a:r>
              <a:rPr lang="en-US" b="1" dirty="0" smtClean="0"/>
              <a:t> </a:t>
            </a:r>
            <a:r>
              <a:rPr lang="en-US" b="1" dirty="0" err="1" smtClean="0"/>
              <a:t>kewajiban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C81E1E"/>
          </a:solidFill>
          <a:ln w="12700">
            <a:solidFill>
              <a:srgbClr val="C81E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84048"/>
            <a:ext cx="12191695" cy="36576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21792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50" b="1" dirty="0">
                <a:solidFill>
                  <a:srgbClr val="2F2F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Apa Itu Pakta Integritas Beasiswa?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502920" y="987552"/>
            <a:ext cx="9052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Pakta integritas adalah komitmen tertulis yang mengikat sikap dan perilaku mahasiswa selama menerima beasiswa.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675120"/>
            <a:ext cx="7772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</a:rPr>
              <a:t>Politeknik Semen Indonesia • ORVOKS 2026 • Pakta Integritas Beasiswa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460175" y="6675120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6666"/>
                </a:solidFill>
              </a:rPr>
              <a:t>6</a:t>
            </a:r>
            <a:endParaRPr lang="en-US" sz="750" dirty="0"/>
          </a:p>
        </p:txBody>
      </p:sp>
      <p:pic>
        <p:nvPicPr>
          <p:cNvPr id="10" name="Image 0" descr="/mnt/data/signing_16x9.jpg"/>
          <p:cNvPicPr>
            <a:picLocks noChangeAspect="1"/>
          </p:cNvPicPr>
          <p:nvPr/>
        </p:nvPicPr>
        <p:blipFill>
          <a:blip r:embed="rId3"/>
          <a:srcRect l="25145" r="25145"/>
          <a:stretch/>
        </p:blipFill>
        <p:spPr>
          <a:xfrm>
            <a:off x="7498080" y="1417320"/>
            <a:ext cx="3840480" cy="43434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85800" y="1572768"/>
            <a:ext cx="3246120" cy="4160520"/>
          </a:xfrm>
          <a:prstGeom prst="rect">
            <a:avLst/>
          </a:prstGeom>
          <a:solidFill>
            <a:srgbClr val="FFF5F5"/>
          </a:solidFill>
          <a:ln w="12700">
            <a:solidFill>
              <a:srgbClr val="E6E6E6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C81E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Makna sederhana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850392" y="2011680"/>
            <a:ext cx="2935224" cy="3630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F2F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Saya memahami aturan beasiswa.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F2F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Saya siap menjalankan kewajiban.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F2F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Saya siap jujur dan terbuka dalam data/dokumen.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F2F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Saya memahami konsekuensi bila melanggar.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160520" y="1572768"/>
            <a:ext cx="30632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991B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Fungsi pakta integritas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325112" y="2011680"/>
            <a:ext cx="2752344" cy="3630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F2F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Menjadi pedoman sikap bagi penerima beasiswa.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F2F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Menegaskan komitmen mahasiswa.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F2F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Mencegah penyalahgunaan informasi, dokumen, dan fasilitas beasiswa.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F2F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Menumbuhkan tanggung jawab sejak awal.</a:t>
            </a:r>
            <a:endParaRPr lang="en-US" sz="1350" dirty="0"/>
          </a:p>
        </p:txBody>
      </p:sp>
      <p:pic>
        <p:nvPicPr>
          <p:cNvPr id="15" name="Picture 3" descr="D:\DESIE PENTING\1. PEKERJAAN\BISMILLAH POLITEKNIK SEMEN INDONESIA\PEKERJAAN DILUAR NGAJAR\LOGO POLTEKSI.jpe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1170655" y="0"/>
            <a:ext cx="1021345" cy="1195191"/>
          </a:xfrm>
          <a:prstGeom prst="rect">
            <a:avLst/>
          </a:prstGeom>
          <a:noFill/>
        </p:spPr>
      </p:pic>
      <p:sp>
        <p:nvSpPr>
          <p:cNvPr id="14337" name="Rectangle 1"/>
          <p:cNvSpPr>
            <a:spLocks noChangeArrowheads="1"/>
          </p:cNvSpPr>
          <p:nvPr/>
        </p:nvSpPr>
        <p:spPr bwMode="auto">
          <a:xfrm>
            <a:off x="1302974" y="4368800"/>
            <a:ext cx="4633000" cy="9848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Jadi</a:t>
            </a:r>
            <a:r>
              <a:rPr kumimoji="0" lang="en-US" sz="11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11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pakta</a:t>
            </a:r>
            <a:r>
              <a:rPr kumimoji="0" lang="en-US" sz="11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11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integritas</a:t>
            </a:r>
            <a:r>
              <a:rPr kumimoji="0" lang="en-US" sz="11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11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bukan</a:t>
            </a:r>
            <a:r>
              <a:rPr kumimoji="0" lang="en-US" sz="11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11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hanya</a:t>
            </a:r>
            <a:r>
              <a:rPr kumimoji="0" lang="en-US" sz="11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11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kertas</a:t>
            </a:r>
            <a:r>
              <a:rPr kumimoji="0" lang="en-US" sz="11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yang </a:t>
            </a:r>
            <a:r>
              <a:rPr kumimoji="0" lang="en-US" sz="11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diberi</a:t>
            </a:r>
            <a:r>
              <a:rPr kumimoji="0" lang="en-US" sz="11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11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tanda</a:t>
            </a:r>
            <a:r>
              <a:rPr kumimoji="0" lang="en-US" sz="11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11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tangan</a:t>
            </a:r>
            <a:r>
              <a:rPr kumimoji="0" lang="en-US" sz="11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.</a:t>
            </a:r>
            <a:endParaRPr kumimoji="0" lang="en-US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Yang paling </a:t>
            </a:r>
            <a:r>
              <a:rPr kumimoji="0" lang="en-US" sz="11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penting</a:t>
            </a:r>
            <a:r>
              <a:rPr kumimoji="0" lang="en-US" sz="11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11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bukan</a:t>
            </a:r>
            <a:r>
              <a:rPr kumimoji="0" lang="en-US" sz="11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11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tanda</a:t>
            </a:r>
            <a:r>
              <a:rPr kumimoji="0" lang="en-US" sz="11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11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tangannya</a:t>
            </a:r>
            <a:r>
              <a:rPr kumimoji="0" lang="en-US" sz="11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.</a:t>
            </a:r>
            <a:endParaRPr kumimoji="0" lang="en-US" sz="11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Yang paling </a:t>
            </a:r>
            <a:r>
              <a:rPr kumimoji="0" lang="en-US" sz="11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penting</a:t>
            </a:r>
            <a:r>
              <a:rPr kumimoji="0" lang="en-US" sz="11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11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adalah</a:t>
            </a:r>
            <a:r>
              <a:rPr kumimoji="0" lang="en-US" sz="11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11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perilaku</a:t>
            </a:r>
            <a:r>
              <a:rPr kumimoji="0" lang="en-US" sz="11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11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setelah</a:t>
            </a:r>
            <a:r>
              <a:rPr kumimoji="0" lang="en-US" sz="11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11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tanda</a:t>
            </a:r>
            <a:r>
              <a:rPr kumimoji="0" lang="en-US" sz="11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11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tangan</a:t>
            </a:r>
            <a:r>
              <a:rPr kumimoji="0" lang="en-US" sz="11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11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tersebut</a:t>
            </a:r>
            <a:endParaRPr kumimoji="0" lang="en-US" sz="11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100" b="1" dirty="0" smtClean="0">
              <a:latin typeface="Arial" pitchFamily="34" charset="0"/>
              <a:cs typeface="Arial" pitchFamily="34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b="1" dirty="0" smtClean="0">
                <a:solidFill>
                  <a:srgbClr val="0070C0"/>
                </a:solidFill>
              </a:rPr>
              <a:t>“</a:t>
            </a:r>
            <a:r>
              <a:rPr lang="en-US" sz="1400" b="1" dirty="0" err="1" smtClean="0">
                <a:solidFill>
                  <a:srgbClr val="0070C0"/>
                </a:solidFill>
              </a:rPr>
              <a:t>Janji</a:t>
            </a:r>
            <a:r>
              <a:rPr lang="en-US" sz="1400" b="1" dirty="0" smtClean="0">
                <a:solidFill>
                  <a:srgbClr val="0070C0"/>
                </a:solidFill>
              </a:rPr>
              <a:t> </a:t>
            </a:r>
            <a:r>
              <a:rPr lang="en-US" sz="1400" b="1" dirty="0" smtClean="0">
                <a:solidFill>
                  <a:srgbClr val="0070C0"/>
                </a:solidFill>
              </a:rPr>
              <a:t>yang </a:t>
            </a:r>
            <a:r>
              <a:rPr lang="en-US" sz="1400" b="1" dirty="0" err="1" smtClean="0">
                <a:solidFill>
                  <a:srgbClr val="0070C0"/>
                </a:solidFill>
              </a:rPr>
              <a:t>dibuktikan</a:t>
            </a:r>
            <a:r>
              <a:rPr lang="en-US" sz="1400" b="1" dirty="0" smtClean="0">
                <a:solidFill>
                  <a:srgbClr val="0070C0"/>
                </a:solidFill>
              </a:rPr>
              <a:t> </a:t>
            </a:r>
            <a:r>
              <a:rPr lang="en-US" sz="1400" b="1" dirty="0" err="1" smtClean="0">
                <a:solidFill>
                  <a:srgbClr val="0070C0"/>
                </a:solidFill>
              </a:rPr>
              <a:t>melalui</a:t>
            </a:r>
            <a:r>
              <a:rPr lang="en-US" sz="1400" b="1" dirty="0" smtClean="0">
                <a:solidFill>
                  <a:srgbClr val="0070C0"/>
                </a:solidFill>
              </a:rPr>
              <a:t> </a:t>
            </a:r>
            <a:r>
              <a:rPr lang="en-US" sz="1400" b="1" dirty="0" err="1" smtClean="0">
                <a:solidFill>
                  <a:srgbClr val="0070C0"/>
                </a:solidFill>
              </a:rPr>
              <a:t>perilaku</a:t>
            </a:r>
            <a:r>
              <a:rPr lang="en-US" sz="1400" b="1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”</a:t>
            </a:r>
            <a:endParaRPr kumimoji="0" lang="en-US" sz="4000" b="1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C81E1E"/>
          </a:solidFill>
          <a:ln w="12700">
            <a:solidFill>
              <a:srgbClr val="C81E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84048"/>
            <a:ext cx="12191695" cy="36576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21792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50" b="1" dirty="0">
                <a:solidFill>
                  <a:srgbClr val="2F2F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Bentuk Komitmen Mahasiswa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502920" y="987552"/>
            <a:ext cx="9052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Komitmen utama dalam pakta integritas dapat diringkas menjadi lima sikap penting.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675120"/>
            <a:ext cx="7772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</a:rPr>
              <a:t>Politeknik Semen Indonesia • ORVOKS 2026 • Pakta Integritas Beasiswa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460175" y="6675120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6666"/>
                </a:solidFill>
              </a:rPr>
              <a:t>7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40080" y="1600200"/>
            <a:ext cx="2148840" cy="1828800"/>
          </a:xfrm>
          <a:prstGeom prst="rect">
            <a:avLst/>
          </a:prstGeom>
          <a:solidFill>
            <a:srgbClr val="FFF5F5"/>
          </a:solidFill>
          <a:ln w="12700">
            <a:solidFill>
              <a:srgbClr val="E6E6E6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C81E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Jujur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04672" y="2039112"/>
            <a:ext cx="1837944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2F2F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Data dan dokumen sesuai kondisi sebenarnya.</a:t>
            </a:r>
            <a:endParaRPr lang="en-US" sz="1240" dirty="0"/>
          </a:p>
        </p:txBody>
      </p:sp>
      <p:sp>
        <p:nvSpPr>
          <p:cNvPr id="12" name="Text 10"/>
          <p:cNvSpPr/>
          <p:nvPr/>
        </p:nvSpPr>
        <p:spPr>
          <a:xfrm>
            <a:off x="2971800" y="1600200"/>
            <a:ext cx="21488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991B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Disiplin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136392" y="2039112"/>
            <a:ext cx="1837944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2F2F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Tepat waktu dalam kuliah, tugas, dan administrasi.</a:t>
            </a:r>
            <a:endParaRPr lang="en-US" sz="1240" dirty="0"/>
          </a:p>
        </p:txBody>
      </p:sp>
      <p:sp>
        <p:nvSpPr>
          <p:cNvPr id="14" name="Text 12"/>
          <p:cNvSpPr/>
          <p:nvPr/>
        </p:nvSpPr>
        <p:spPr>
          <a:xfrm>
            <a:off x="5303520" y="1600200"/>
            <a:ext cx="2148840" cy="1828800"/>
          </a:xfrm>
          <a:prstGeom prst="rect">
            <a:avLst/>
          </a:prstGeom>
          <a:solidFill>
            <a:srgbClr val="FFF5F5"/>
          </a:solidFill>
          <a:ln w="12700">
            <a:solidFill>
              <a:srgbClr val="E6E6E6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C81E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Transparan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468112" y="2039112"/>
            <a:ext cx="1837944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2F2F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Terbuka saat ada kendala atau perubahan informasi.</a:t>
            </a:r>
            <a:endParaRPr lang="en-US" sz="1240" dirty="0"/>
          </a:p>
        </p:txBody>
      </p:sp>
      <p:sp>
        <p:nvSpPr>
          <p:cNvPr id="16" name="Text 14"/>
          <p:cNvSpPr/>
          <p:nvPr/>
        </p:nvSpPr>
        <p:spPr>
          <a:xfrm>
            <a:off x="7635240" y="1600200"/>
            <a:ext cx="21488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991B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Bertanggung jawab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799832" y="2039112"/>
            <a:ext cx="1837944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2F2F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Memanfaatkan beasiswa untuk mendukung pendidikan.</a:t>
            </a:r>
            <a:endParaRPr lang="en-US" sz="1240" dirty="0"/>
          </a:p>
        </p:txBody>
      </p:sp>
      <p:sp>
        <p:nvSpPr>
          <p:cNvPr id="18" name="Text 16"/>
          <p:cNvSpPr/>
          <p:nvPr/>
        </p:nvSpPr>
        <p:spPr>
          <a:xfrm>
            <a:off x="9966960" y="1600200"/>
            <a:ext cx="1600200" cy="1828800"/>
          </a:xfrm>
          <a:prstGeom prst="rect">
            <a:avLst/>
          </a:prstGeom>
          <a:solidFill>
            <a:srgbClr val="FFF5F5"/>
          </a:solidFill>
          <a:ln w="12700">
            <a:solidFill>
              <a:srgbClr val="E6E6E6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C81E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Menjaga nama baik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131552" y="2039112"/>
            <a:ext cx="1289304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F2F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Menjaga perilaku akademik dan non-akademik.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097280" y="4160520"/>
            <a:ext cx="9966960" cy="658368"/>
          </a:xfrm>
          <a:prstGeom prst="rect">
            <a:avLst/>
          </a:prstGeom>
          <a:solidFill>
            <a:srgbClr val="FEE2E2"/>
          </a:solidFill>
          <a:ln>
            <a:solidFill>
              <a:srgbClr val="FECAC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991B1B"/>
                </a:solidFill>
              </a:rPr>
              <a:t>Komitmen ini berlaku dalam proses pengajuan, penerimaan, dan pelaksanaan program beasiswa.</a:t>
            </a:r>
            <a:endParaRPr lang="en-US" sz="1700" dirty="0"/>
          </a:p>
        </p:txBody>
      </p:sp>
      <p:pic>
        <p:nvPicPr>
          <p:cNvPr id="21" name="Picture 3" descr="D:\DESIE PENTING\1. PEKERJAAN\BISMILLAH POLITEKNIK SEMEN INDONESIA\PEKERJAAN DILUAR NGAJAR\LOGO POLTEKSI.jpe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170655" y="0"/>
            <a:ext cx="1021345" cy="11951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C81E1E"/>
          </a:solidFill>
          <a:ln w="12700">
            <a:solidFill>
              <a:srgbClr val="C81E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84048"/>
            <a:ext cx="12191695" cy="36576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21792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50" b="1" dirty="0">
                <a:solidFill>
                  <a:srgbClr val="2F2F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Contoh Perilaku Sesuai dan Tidak Sesuai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502920" y="987552"/>
            <a:ext cx="9052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Contoh sederhana membantu mahasiswa memahami bagaimana integritas diterapkan sehari-hari.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675120"/>
            <a:ext cx="7772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</a:rPr>
              <a:t>Politeknik Semen Indonesia • ORVOKS 2026 • Pakta Integritas Beasiswa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460175" y="6675120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6666"/>
                </a:solidFill>
              </a:rPr>
              <a:t>8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85800" y="1600200"/>
            <a:ext cx="534924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F7A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Sesuai pakta integritas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50392" y="2039112"/>
            <a:ext cx="5038344" cy="3538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F2F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Mengisi data beasiswa dengan benar.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F2F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Mengumpulkan dokumen sesuai jadwal.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F2F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Mengikuti pembinaan dan monitoring.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F2F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Bertanya saat tidak memahami aturan.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F2F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Menjaga sikap di kelas, organisasi, dan media sosial.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55080" y="1600200"/>
            <a:ext cx="5166360" cy="4069080"/>
          </a:xfrm>
          <a:prstGeom prst="rect">
            <a:avLst/>
          </a:prstGeom>
          <a:solidFill>
            <a:srgbClr val="FFF5F5"/>
          </a:solidFill>
          <a:ln w="12700">
            <a:solidFill>
              <a:srgbClr val="E6E6E6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C81E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Tidak sesuai pakta integritas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519672" y="2039112"/>
            <a:ext cx="4855464" cy="3538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F2F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Memalsukan data atau dokumen.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F2F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Menyembunyikan perubahan status penting.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F2F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Mengabaikan panggilan kampus/pengelola beasiswa.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F2F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Melanggar tata tertib atau melakukan kecurangan akademik.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F2F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Bertindak merugikan kampus atau pemberi beasiswa.</a:t>
            </a:r>
            <a:endParaRPr lang="en-US" sz="1300" dirty="0"/>
          </a:p>
        </p:txBody>
      </p:sp>
      <p:pic>
        <p:nvPicPr>
          <p:cNvPr id="14" name="Picture 3" descr="D:\DESIE PENTING\1. PEKERJAAN\BISMILLAH POLITEKNIK SEMEN INDONESIA\PEKERJAAN DILUAR NGAJAR\LOGO POLTEKSI.jpe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170655" y="0"/>
            <a:ext cx="1021345" cy="1195191"/>
          </a:xfrm>
          <a:prstGeom prst="rect">
            <a:avLst/>
          </a:prstGeom>
          <a:noFill/>
        </p:spPr>
      </p:pic>
      <p:sp>
        <p:nvSpPr>
          <p:cNvPr id="15" name="Rectangle 14"/>
          <p:cNvSpPr/>
          <p:nvPr/>
        </p:nvSpPr>
        <p:spPr>
          <a:xfrm>
            <a:off x="3474082" y="3731491"/>
            <a:ext cx="5186035" cy="17543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err="1" smtClean="0"/>
              <a:t>Jadi</a:t>
            </a:r>
            <a:r>
              <a:rPr lang="en-US" dirty="0" smtClean="0"/>
              <a:t> </a:t>
            </a:r>
            <a:r>
              <a:rPr lang="en-US" dirty="0" err="1" smtClean="0"/>
              <a:t>integritas</a:t>
            </a:r>
            <a:r>
              <a:rPr lang="en-US" dirty="0" smtClean="0"/>
              <a:t> </a:t>
            </a:r>
            <a:r>
              <a:rPr lang="en-US" dirty="0" err="1" smtClean="0"/>
              <a:t>sebenarnya</a:t>
            </a:r>
            <a:r>
              <a:rPr lang="en-US" dirty="0" smtClean="0"/>
              <a:t> </a:t>
            </a:r>
            <a:r>
              <a:rPr lang="en-US" dirty="0" err="1" smtClean="0"/>
              <a:t>diuji</a:t>
            </a:r>
            <a:r>
              <a:rPr lang="en-US" dirty="0" smtClean="0"/>
              <a:t> </a:t>
            </a:r>
            <a:r>
              <a:rPr lang="en-US" dirty="0" err="1" smtClean="0"/>
              <a:t>dari</a:t>
            </a:r>
            <a:r>
              <a:rPr lang="en-US" dirty="0" smtClean="0"/>
              <a:t> </a:t>
            </a:r>
            <a:r>
              <a:rPr lang="en-US" b="1" dirty="0" err="1" smtClean="0"/>
              <a:t>hal-hal</a:t>
            </a:r>
            <a:r>
              <a:rPr lang="en-US" b="1" dirty="0" smtClean="0"/>
              <a:t> </a:t>
            </a:r>
            <a:r>
              <a:rPr lang="en-US" b="1" dirty="0" err="1" smtClean="0"/>
              <a:t>kecil</a:t>
            </a:r>
            <a:endParaRPr lang="en-US" b="1" dirty="0" smtClean="0"/>
          </a:p>
          <a:p>
            <a:pPr algn="ctr"/>
            <a:endParaRPr lang="en-US" dirty="0" smtClean="0"/>
          </a:p>
          <a:p>
            <a:pPr algn="ctr"/>
            <a:r>
              <a:rPr lang="en-US" dirty="0" err="1" smtClean="0"/>
              <a:t>Contoh</a:t>
            </a:r>
            <a:r>
              <a:rPr lang="en-US" dirty="0" smtClean="0"/>
              <a:t> :</a:t>
            </a:r>
          </a:p>
          <a:p>
            <a:pPr algn="ctr"/>
            <a:r>
              <a:rPr lang="en-US" dirty="0" err="1" smtClean="0"/>
              <a:t>K</a:t>
            </a:r>
            <a:r>
              <a:rPr lang="en-US" dirty="0" err="1" smtClean="0"/>
              <a:t>etika</a:t>
            </a:r>
            <a:r>
              <a:rPr lang="en-US" dirty="0" smtClean="0"/>
              <a:t> </a:t>
            </a:r>
            <a:r>
              <a:rPr lang="en-US" dirty="0" err="1" smtClean="0"/>
              <a:t>terlambat</a:t>
            </a:r>
            <a:r>
              <a:rPr lang="en-US" dirty="0" smtClean="0"/>
              <a:t>.</a:t>
            </a:r>
          </a:p>
          <a:p>
            <a:pPr algn="ctr"/>
            <a:r>
              <a:rPr lang="en-US" dirty="0" err="1" smtClean="0"/>
              <a:t>Apakah</a:t>
            </a:r>
            <a:r>
              <a:rPr lang="en-US" dirty="0" smtClean="0"/>
              <a:t> </a:t>
            </a:r>
            <a:r>
              <a:rPr lang="en-US" dirty="0" err="1" smtClean="0"/>
              <a:t>kita</a:t>
            </a:r>
            <a:r>
              <a:rPr lang="en-US" dirty="0" smtClean="0"/>
              <a:t> </a:t>
            </a:r>
            <a:r>
              <a:rPr lang="en-US" dirty="0" err="1" smtClean="0"/>
              <a:t>berani</a:t>
            </a:r>
            <a:r>
              <a:rPr lang="en-US" dirty="0" smtClean="0"/>
              <a:t> </a:t>
            </a:r>
            <a:r>
              <a:rPr lang="en-US" dirty="0" err="1" smtClean="0"/>
              <a:t>jujur</a:t>
            </a:r>
            <a:r>
              <a:rPr lang="en-US" dirty="0" smtClean="0"/>
              <a:t> </a:t>
            </a:r>
            <a:r>
              <a:rPr lang="en-US" dirty="0" err="1" smtClean="0"/>
              <a:t>mengatakan</a:t>
            </a:r>
            <a:r>
              <a:rPr lang="en-US" dirty="0" smtClean="0"/>
              <a:t> </a:t>
            </a:r>
            <a:r>
              <a:rPr lang="en-US" dirty="0" err="1" smtClean="0"/>
              <a:t>terlambat</a:t>
            </a:r>
            <a:r>
              <a:rPr lang="en-US" dirty="0" smtClean="0"/>
              <a:t>?</a:t>
            </a:r>
          </a:p>
          <a:p>
            <a:pPr algn="ctr"/>
            <a:r>
              <a:rPr lang="en-US" dirty="0" err="1" smtClean="0"/>
              <a:t>Atau</a:t>
            </a:r>
            <a:r>
              <a:rPr lang="en-US" dirty="0" smtClean="0"/>
              <a:t> </a:t>
            </a:r>
            <a:r>
              <a:rPr lang="en-US" dirty="0" err="1" smtClean="0"/>
              <a:t>membuat</a:t>
            </a:r>
            <a:r>
              <a:rPr lang="en-US" dirty="0" smtClean="0"/>
              <a:t> </a:t>
            </a:r>
            <a:r>
              <a:rPr lang="en-US" dirty="0" err="1" smtClean="0"/>
              <a:t>alasan</a:t>
            </a:r>
            <a:r>
              <a:rPr lang="en-US" dirty="0" smtClean="0"/>
              <a:t> yang </a:t>
            </a:r>
            <a:r>
              <a:rPr lang="en-US" dirty="0" err="1" smtClean="0"/>
              <a:t>tid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C81E1E"/>
          </a:solidFill>
          <a:ln w="12700">
            <a:solidFill>
              <a:srgbClr val="C81E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84048"/>
            <a:ext cx="12191695" cy="36576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21792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50" b="1" dirty="0">
                <a:solidFill>
                  <a:srgbClr val="2F2F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Studi Kasus Sederhana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502920" y="987552"/>
            <a:ext cx="9052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Diskusi singkat: apa langkah yang paling berintegritas?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675120"/>
            <a:ext cx="7772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</a:rPr>
              <a:t>Politeknik Semen Indonesia • ORVOKS 2026 • Pakta Integritas Beasiswa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460175" y="6675120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6666"/>
                </a:solidFill>
              </a:rPr>
              <a:t>9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85800" y="1600200"/>
            <a:ext cx="3474720" cy="3200400"/>
          </a:xfrm>
          <a:prstGeom prst="rect">
            <a:avLst/>
          </a:prstGeom>
          <a:solidFill>
            <a:srgbClr val="FFF5F5"/>
          </a:solidFill>
          <a:ln w="12700">
            <a:solidFill>
              <a:srgbClr val="E6E6E6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C81E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Kasus 1: Data tidak sesuai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50392" y="2039112"/>
            <a:ext cx="3163824" cy="2670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F2F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Mahasiswa menemukan ada data yang keliru pada berkas beasiswa.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F2F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Langkah tepat: segera lapor dan perbaiki data dengan bukti yang benar.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343400" y="1600200"/>
            <a:ext cx="34747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991B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Kasus 2: Syarat belum lengkap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07992" y="2039112"/>
            <a:ext cx="3163824" cy="2670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F2F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Mahasiswa belum melengkapi salah satu persyaratan.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F2F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Langkah tepat: komunikasikan lebih awal dan tanyakan solusi resmi.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001000" y="1600200"/>
            <a:ext cx="3474720" cy="3200400"/>
          </a:xfrm>
          <a:prstGeom prst="rect">
            <a:avLst/>
          </a:prstGeom>
          <a:solidFill>
            <a:srgbClr val="FFF5F5"/>
          </a:solidFill>
          <a:ln w="12700">
            <a:solidFill>
              <a:srgbClr val="E6E6E6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C81E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Kasus 3: Kewajiban terlewat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165592" y="2039112"/>
            <a:ext cx="3163824" cy="2670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F2F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Mahasiswa tidak mengikuti monitoring/evaluasi.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F2F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Langkah tepat: hubungi bagian terkait, jelaskan kondisi, dan ikuti arahan.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828800" y="5166360"/>
            <a:ext cx="8503920" cy="411480"/>
          </a:xfrm>
          <a:prstGeom prst="rect">
            <a:avLst/>
          </a:prstGeom>
          <a:solidFill>
            <a:srgbClr val="C81E1E"/>
          </a:solidFill>
          <a:ln>
            <a:solidFill>
              <a:srgbClr val="C81E1E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</a:rPr>
              <a:t>Jawaban kunci: jujur • terbuka • melapor lebih awal • mengikuti ketentuan resmi</a:t>
            </a:r>
            <a:endParaRPr lang="en-US" sz="1550" dirty="0"/>
          </a:p>
        </p:txBody>
      </p:sp>
      <p:pic>
        <p:nvPicPr>
          <p:cNvPr id="17" name="Picture 3" descr="D:\DESIE PENTING\1. PEKERJAAN\BISMILLAH POLITEKNIK SEMEN INDONESIA\PEKERJAAN DILUAR NGAJAR\LOGO POLTEKSI.jpe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170655" y="0"/>
            <a:ext cx="1021345" cy="11951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C81E1E"/>
          </a:solidFill>
          <a:ln w="12700">
            <a:solidFill>
              <a:srgbClr val="C81E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84048"/>
            <a:ext cx="12191695" cy="36576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21792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50" b="1" dirty="0">
                <a:solidFill>
                  <a:srgbClr val="2F2F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Cara Menjaga Amanah Beasiswa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502920" y="987552"/>
            <a:ext cx="9052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Gunakan checklist ini agar mahasiswa tidak melanggar aturan karena lupa atau kurang komunikasi.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675120"/>
            <a:ext cx="7772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</a:rPr>
              <a:t>Politeknik Semen Indonesia • ORVOKS 2026 • Pakta Integritas Beasiswa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460175" y="6675120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6666"/>
                </a:solidFill>
              </a:rPr>
              <a:t>10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85800" y="1508760"/>
            <a:ext cx="548640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C81E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Checklist praktis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50392" y="1947672"/>
            <a:ext cx="5175504" cy="3858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F2F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Baca dan simpan aturan beasiswa.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F2F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Catat batas waktu pengumpulan dokumen.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F2F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Gunakan dana/fasilitas sesuai tujuan pendidikan.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F2F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Simpan bukti administrasi dengan rapi.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F2F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Perbarui data kontak dan status penting.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F2F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Konsultasi jika ada masalah akademik atau administrasi.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46520" y="1508760"/>
            <a:ext cx="5029200" cy="4389120"/>
          </a:xfrm>
          <a:prstGeom prst="rect">
            <a:avLst/>
          </a:prstGeom>
          <a:solidFill>
            <a:srgbClr val="FFF5F5"/>
          </a:solidFill>
          <a:ln w="12700">
            <a:solidFill>
              <a:srgbClr val="E6E6E6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991B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Prinsip komunikasi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611112" y="1947672"/>
            <a:ext cx="4718304" cy="3858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F2F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Jangan menunggu dipanggil.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F2F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Jangan menunda laporan.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F2F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Jangan memalsukan alasan atau bukti.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F2F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Lebih baik bertanya lebih awal daripada salah mengambil keputusan.</a:t>
            </a:r>
            <a:endParaRPr lang="en-US" sz="1350" dirty="0"/>
          </a:p>
        </p:txBody>
      </p:sp>
      <p:pic>
        <p:nvPicPr>
          <p:cNvPr id="14" name="Picture 3" descr="D:\DESIE PENTING\1. PEKERJAAN\BISMILLAH POLITEKNIK SEMEN INDONESIA\PEKERJAAN DILUAR NGAJAR\LOGO POLTEKSI.jpe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170655" y="0"/>
            <a:ext cx="1021345" cy="1195191"/>
          </a:xfrm>
          <a:prstGeom prst="rect">
            <a:avLst/>
          </a:prstGeom>
          <a:noFill/>
        </p:spPr>
      </p:pic>
      <p:sp>
        <p:nvSpPr>
          <p:cNvPr id="6145" name="Rectangle 1"/>
          <p:cNvSpPr>
            <a:spLocks noChangeArrowheads="1"/>
          </p:cNvSpPr>
          <p:nvPr/>
        </p:nvSpPr>
        <p:spPr bwMode="auto">
          <a:xfrm>
            <a:off x="2926263" y="4267200"/>
            <a:ext cx="6162317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.”</a:t>
            </a:r>
            <a:r>
              <a:rPr kumimoji="0" lang="en-US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Kalau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ragu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, </a:t>
            </a:r>
            <a:r>
              <a:rPr kumimoji="0" lang="en-US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tanyakan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. </a:t>
            </a:r>
            <a:r>
              <a:rPr kumimoji="0" lang="en-US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Kalau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ada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perubahan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, </a:t>
            </a:r>
            <a:r>
              <a:rPr kumimoji="0" lang="en-US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laporkan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.”</a:t>
            </a:r>
            <a:endParaRPr kumimoji="0" lang="en-US" sz="5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C81E1E"/>
          </a:solidFill>
          <a:ln w="12700">
            <a:solidFill>
              <a:srgbClr val="C81E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84048"/>
            <a:ext cx="12191695" cy="36576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21792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50" b="1" dirty="0" err="1" smtClean="0">
                <a:solidFill>
                  <a:srgbClr val="2F2F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Evaluasi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675120"/>
            <a:ext cx="7772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</a:rPr>
              <a:t>Politeknik Semen Indonesia • ORVOKS 2026 • Pakta Integritas Beasiswa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460175" y="6675120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6666"/>
                </a:solidFill>
              </a:rPr>
              <a:t>11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85799" y="1600200"/>
            <a:ext cx="10484855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C81E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Pertanyaan refleksi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50392" y="2039112"/>
            <a:ext cx="5449824" cy="3538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F2F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Apa makna pakta integritas menurut kalian?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F2F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Mengapa data dan dokumen beasiswa harus benar?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F2F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Apa yang harus dilakukan jika ada kendala atau perubahan data?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F2F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Sebutkan satu contoh perilaku yang dapat merusak integritas penerima beasiswa.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F2F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Apa komitmen pribadi kalian setelah sesi ini?</a:t>
            </a:r>
            <a:endParaRPr lang="en-US" sz="1350" dirty="0"/>
          </a:p>
        </p:txBody>
      </p:sp>
      <p:pic>
        <p:nvPicPr>
          <p:cNvPr id="14" name="Picture 3" descr="D:\DESIE PENTING\1. PEKERJAAN\BISMILLAH POLITEKNIK SEMEN INDONESIA\PEKERJAAN DILUAR NGAJAR\LOGO POLTEKSI.jpe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170655" y="0"/>
            <a:ext cx="1021345" cy="11951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C81E1E"/>
          </a:solidFill>
          <a:ln w="12700">
            <a:solidFill>
              <a:srgbClr val="C81E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84048"/>
            <a:ext cx="12191695" cy="36576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21792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50" b="1" dirty="0">
                <a:solidFill>
                  <a:srgbClr val="2F2F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Komitmen Penutup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502920" y="987552"/>
            <a:ext cx="9052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Pakta integritas menjadi pedoman agar beasiswa dimanfaatkan tepat untuk keberhasilan studi dan pengembangan potensi.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675120"/>
            <a:ext cx="7772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</a:rPr>
              <a:t>Politeknik Semen Indonesia • ORVOKS 2026 • Pakta Integritas Beasiswa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460175" y="6675120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6666"/>
                </a:solidFill>
              </a:rPr>
              <a:t>12</a:t>
            </a:r>
            <a:endParaRPr lang="en-US" sz="750" dirty="0"/>
          </a:p>
        </p:txBody>
      </p:sp>
      <p:pic>
        <p:nvPicPr>
          <p:cNvPr id="10" name="Image 0" descr="/mnt/data/signing_portrait.jpg"/>
          <p:cNvPicPr>
            <a:picLocks noChangeAspect="1"/>
          </p:cNvPicPr>
          <p:nvPr/>
        </p:nvPicPr>
        <p:blipFill>
          <a:blip r:embed="rId3"/>
          <a:srcRect t="13955" b="13955"/>
          <a:stretch/>
        </p:blipFill>
        <p:spPr>
          <a:xfrm>
            <a:off x="685800" y="1508760"/>
            <a:ext cx="3520440" cy="44805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0" y="1600200"/>
            <a:ext cx="681228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C81E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Sebagai mahasiswa penerima/pengaju beasiswa, saya berkomitmen untuk: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736592" y="2039112"/>
            <a:ext cx="6501384" cy="3355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F2F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Menjaga kejujuran, kedisiplinan, keterbukaan, dan tanggung jawab.</a:t>
            </a:r>
            <a:endParaRPr lang="en-US" sz="1340" dirty="0"/>
          </a:p>
          <a:p>
            <a:pPr marL="0" indent="0">
              <a:buNone/>
            </a:pPr>
            <a:r>
              <a:rPr lang="en-US" sz="1340" dirty="0">
                <a:solidFill>
                  <a:srgbClr val="2F2F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Memenuhi ketentuan dan tata tertib beasiswa.</a:t>
            </a:r>
            <a:endParaRPr lang="en-US" sz="1340" dirty="0"/>
          </a:p>
          <a:p>
            <a:pPr marL="0" indent="0">
              <a:buNone/>
            </a:pPr>
            <a:r>
              <a:rPr lang="en-US" sz="1340" dirty="0">
                <a:solidFill>
                  <a:srgbClr val="2F2F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Menggunakan beasiswa untuk mendukung keberhasilan pendidikan.</a:t>
            </a:r>
            <a:endParaRPr lang="en-US" sz="1340" dirty="0"/>
          </a:p>
          <a:p>
            <a:pPr marL="0" indent="0">
              <a:buNone/>
            </a:pPr>
            <a:r>
              <a:rPr lang="en-US" sz="1340" dirty="0">
                <a:solidFill>
                  <a:srgbClr val="2F2F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Menjaga prestasi dan perilaku akademik maupun non-akademik.</a:t>
            </a:r>
            <a:endParaRPr lang="en-US" sz="1340" dirty="0"/>
          </a:p>
          <a:p>
            <a:pPr marL="0" indent="0">
              <a:buNone/>
            </a:pPr>
            <a:r>
              <a:rPr lang="en-US" sz="1340" dirty="0">
                <a:solidFill>
                  <a:srgbClr val="2F2F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Menjaga nama baik diri, kampus, dan pemberi beasiswa.</a:t>
            </a:r>
            <a:endParaRPr lang="en-US" sz="1340" dirty="0"/>
          </a:p>
        </p:txBody>
      </p:sp>
      <p:sp>
        <p:nvSpPr>
          <p:cNvPr id="13" name="Text 10"/>
          <p:cNvSpPr/>
          <p:nvPr/>
        </p:nvSpPr>
        <p:spPr>
          <a:xfrm>
            <a:off x="4663440" y="5687568"/>
            <a:ext cx="6583680" cy="384048"/>
          </a:xfrm>
          <a:prstGeom prst="rect">
            <a:avLst/>
          </a:prstGeom>
          <a:solidFill>
            <a:srgbClr val="C81E1E"/>
          </a:solidFill>
          <a:ln>
            <a:solidFill>
              <a:srgbClr val="C81E1E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</a:rPr>
              <a:t>Beasiswa adalah amanah. Integritas adalah cara kita menjaganya.</a:t>
            </a:r>
            <a:endParaRPr lang="en-US" sz="1550" dirty="0"/>
          </a:p>
        </p:txBody>
      </p:sp>
      <p:pic>
        <p:nvPicPr>
          <p:cNvPr id="14" name="Picture 3" descr="D:\DESIE PENTING\1. PEKERJAAN\BISMILLAH POLITEKNIK SEMEN INDONESIA\PEKERJAAN DILUAR NGAJAR\LOGO POLTEKSI.jpe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1170655" y="0"/>
            <a:ext cx="1021345" cy="11951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1442</Words>
  <Application>Microsoft Office PowerPoint</Application>
  <PresentationFormat>Custom</PresentationFormat>
  <Paragraphs>195</Paragraphs>
  <Slides>11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Politeknik Semen Indonesia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Materi Pakta Integritas Beasiswa Politeknik Semen Indonesia</dc:title>
  <dc:subject>Pakta Integritas Beasiswa ORVOKS 2026</dc:subject>
  <dc:creator>OpenAI</dc:creator>
  <cp:lastModifiedBy>desie</cp:lastModifiedBy>
  <cp:revision>11</cp:revision>
  <dcterms:created xsi:type="dcterms:W3CDTF">2026-09-17T13:21:33Z</dcterms:created>
  <dcterms:modified xsi:type="dcterms:W3CDTF">2026-09-18T15:10:05Z</dcterms:modified>
</cp:coreProperties>
</file>