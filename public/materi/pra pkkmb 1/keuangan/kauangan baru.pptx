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Barlow Condensed" charset="1" panose="00000506000000000000"/>
      <p:regular r:id="rId25"/>
    </p:embeddedFont>
    <p:embeddedFont>
      <p:font typeface="Playfair Display" charset="1" panose="00000000000000000000"/>
      <p:regular r:id="rId26"/>
    </p:embeddedFont>
    <p:embeddedFont>
      <p:font typeface="Centaur Italics" charset="1" panose="02020503050405090304"/>
      <p:regular r:id="rId27"/>
    </p:embeddedFont>
    <p:embeddedFont>
      <p:font typeface="Times New Roman Italics" charset="1" panose="02020503050405090304"/>
      <p:regular r:id="rId28"/>
    </p:embeddedFont>
    <p:embeddedFont>
      <p:font typeface="Times New Roman" charset="1" panose="02020603050405020304"/>
      <p:regular r:id="rId29"/>
    </p:embeddedFont>
    <p:embeddedFont>
      <p:font typeface="Arimo Bold Italics" charset="1" panose="020B0704020202090204"/>
      <p:regular r:id="rId31"/>
    </p:embeddedFont>
    <p:embeddedFont>
      <p:font typeface="Times New Roman Bold" charset="1" panose="02020803070505020304"/>
      <p:regular r:id="rId32"/>
    </p:embeddedFont>
    <p:embeddedFont>
      <p:font typeface="Centaur Bold Italics" charset="1" panose="02020803050405090304"/>
      <p:regular r:id="rId34"/>
    </p:embeddedFont>
    <p:embeddedFont>
      <p:font typeface="Rubik" charset="1" panose="00000000000000000000"/>
      <p:regular r:id="rId37"/>
    </p:embeddedFont>
    <p:embeddedFont>
      <p:font typeface="Arial" charset="1" panose="020B0604020202020204"/>
      <p:regular r:id="rId38"/>
    </p:embeddedFont>
    <p:embeddedFont>
      <p:font typeface="Doulos" charset="1" panose="02000500070000020004"/>
      <p:regular r:id="rId43"/>
    </p:embeddedFont>
    <p:embeddedFont>
      <p:font typeface="ITC Edwardian Script" charset="1" panose="02000505090000020002"/>
      <p:regular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2.xml" Type="http://schemas.openxmlformats.org/officeDocument/2006/relationships/notesSlide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Slides/notesSlide3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4.xml" Type="http://schemas.openxmlformats.org/officeDocument/2006/relationships/notesSlide"/><Relationship Id="rId36" Target="notesSlides/notesSlide5.xml" Type="http://schemas.openxmlformats.org/officeDocument/2006/relationships/notesSlide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notesSlides/notesSlide6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7.xml" Type="http://schemas.openxmlformats.org/officeDocument/2006/relationships/notesSlide"/><Relationship Id="rId41" Target="notesSlides/notesSlide8.xml" Type="http://schemas.openxmlformats.org/officeDocument/2006/relationships/notesSlide"/><Relationship Id="rId42" Target="notesSlides/notesSlide9.xml" Type="http://schemas.openxmlformats.org/officeDocument/2006/relationships/notesSlide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notesSlides/notesSlide10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5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922840" y="9498712"/>
            <a:ext cx="2186854" cy="3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25975" y="-19050"/>
            <a:ext cx="18329558" cy="10287000"/>
            <a:chOff x="0" y="0"/>
            <a:chExt cx="24439410" cy="13716000"/>
          </a:xfrm>
        </p:grpSpPr>
        <p:sp>
          <p:nvSpPr>
            <p:cNvPr name="Freeform 4" id="4" descr="Imagen que contiene exterior, cielo  Descripción generada automáticamente"/>
            <p:cNvSpPr/>
            <p:nvPr/>
          </p:nvSpPr>
          <p:spPr>
            <a:xfrm flipH="false" flipV="false" rot="0">
              <a:off x="0" y="0"/>
              <a:ext cx="2443937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439372">
                  <a:moveTo>
                    <a:pt x="0" y="0"/>
                  </a:moveTo>
                  <a:lnTo>
                    <a:pt x="24439372" y="0"/>
                  </a:lnTo>
                  <a:lnTo>
                    <a:pt x="2443937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9428" r="0" b="-938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-39834" y="0"/>
            <a:ext cx="18329558" cy="10287000"/>
            <a:chOff x="0" y="0"/>
            <a:chExt cx="2443941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3937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439372">
                  <a:moveTo>
                    <a:pt x="0" y="0"/>
                  </a:moveTo>
                  <a:lnTo>
                    <a:pt x="24439372" y="0"/>
                  </a:lnTo>
                  <a:lnTo>
                    <a:pt x="2443937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>
                <a:alpha val="24706"/>
              </a:srgbClr>
            </a:solidFill>
          </p:spPr>
        </p:sp>
      </p:grpSp>
      <p:sp>
        <p:nvSpPr>
          <p:cNvPr name="TextBox 7" id="7"/>
          <p:cNvSpPr txBox="true"/>
          <p:nvPr/>
        </p:nvSpPr>
        <p:spPr>
          <a:xfrm rot="5400000">
            <a:off x="-922840" y="9498712"/>
            <a:ext cx="2186854" cy="3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1465" y="4427449"/>
            <a:ext cx="16645061" cy="1432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Bekal Financial untuk Mahasiswa Baru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3660" y="972388"/>
            <a:ext cx="10178634" cy="69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i="true">
                <a:solidFill>
                  <a:srgbClr val="FFFFFF"/>
                </a:solidFill>
                <a:latin typeface="Centaur Italics"/>
                <a:ea typeface="Centaur Italics"/>
                <a:cs typeface="Centaur Italics"/>
                <a:sym typeface="Centaur Italics"/>
              </a:rPr>
              <a:t>Pra Pengenalan Kehidupan Kampus bagi Mahasiswa Baru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8598313"/>
            <a:ext cx="324469" cy="1548584"/>
            <a:chOff x="0" y="0"/>
            <a:chExt cx="432626" cy="206477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2562" cy="2064766"/>
            </a:xfrm>
            <a:custGeom>
              <a:avLst/>
              <a:gdLst/>
              <a:ahLst/>
              <a:cxnLst/>
              <a:rect r="r" b="b" t="t" l="l"/>
              <a:pathLst>
                <a:path h="2064766" w="432562">
                  <a:moveTo>
                    <a:pt x="0" y="0"/>
                  </a:moveTo>
                  <a:lnTo>
                    <a:pt x="432562" y="0"/>
                  </a:lnTo>
                  <a:lnTo>
                    <a:pt x="432562" y="2064766"/>
                  </a:lnTo>
                  <a:lnTo>
                    <a:pt x="0" y="2064766"/>
                  </a:lnTo>
                  <a:close/>
                </a:path>
              </a:pathLst>
            </a:custGeom>
            <a:solidFill>
              <a:srgbClr val="0D0D0D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435821" y="8947271"/>
            <a:ext cx="5406790" cy="822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 i="true">
                <a:solidFill>
                  <a:srgbClr val="FFFFFF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Gresik, 18 September 2026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8992" y="9792462"/>
            <a:ext cx="4237082" cy="25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Politeknik Semen Indonesia • Orientasi Keuangan Mahasiswa Baru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922840" y="9498712"/>
            <a:ext cx="2186854" cy="3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856758" y="2744934"/>
            <a:ext cx="10574484" cy="4797133"/>
            <a:chOff x="0" y="0"/>
            <a:chExt cx="14099311" cy="63961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099287" cy="6396228"/>
            </a:xfrm>
            <a:custGeom>
              <a:avLst/>
              <a:gdLst/>
              <a:ahLst/>
              <a:cxnLst/>
              <a:rect r="r" b="b" t="t" l="l"/>
              <a:pathLst>
                <a:path h="6396228" w="14099287">
                  <a:moveTo>
                    <a:pt x="0" y="0"/>
                  </a:moveTo>
                  <a:lnTo>
                    <a:pt x="14099287" y="0"/>
                  </a:lnTo>
                  <a:lnTo>
                    <a:pt x="14099287" y="6396228"/>
                  </a:lnTo>
                  <a:lnTo>
                    <a:pt x="0" y="63962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205" t="0" r="-8205" b="0"/>
              </a:stretch>
            </a:blipFill>
            <a:ln w="114300" cap="sq">
              <a:solidFill>
                <a:srgbClr val="266F8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2653151" y="3848100"/>
            <a:ext cx="12981708" cy="2590800"/>
            <a:chOff x="0" y="0"/>
            <a:chExt cx="17308944" cy="3454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308957" cy="3454400"/>
            </a:xfrm>
            <a:custGeom>
              <a:avLst/>
              <a:gdLst/>
              <a:ahLst/>
              <a:cxnLst/>
              <a:rect r="r" b="b" t="t" l="l"/>
              <a:pathLst>
                <a:path h="3454400" w="17308957">
                  <a:moveTo>
                    <a:pt x="0" y="0"/>
                  </a:moveTo>
                  <a:lnTo>
                    <a:pt x="17308957" y="0"/>
                  </a:lnTo>
                  <a:lnTo>
                    <a:pt x="17308957" y="3454400"/>
                  </a:lnTo>
                  <a:lnTo>
                    <a:pt x="0" y="34544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5400000">
            <a:off x="-922840" y="9498712"/>
            <a:ext cx="2186854" cy="3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56C8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82506" y="2736971"/>
            <a:ext cx="5642762" cy="2231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0"/>
              </a:lnSpc>
            </a:pPr>
            <a:r>
              <a:rPr lang="en-US" b="true" sz="17250" i="true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Hallo!!!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02989" y="5289566"/>
            <a:ext cx="10067277" cy="2053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b="true" sz="45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Lis Indayani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Dosen Akuntansi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S1 =&gt; Universitas Bhanyangkara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S2 =&gt; Universitas Airlangga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8568814"/>
            <a:ext cx="339214" cy="1578073"/>
            <a:chOff x="0" y="0"/>
            <a:chExt cx="452285" cy="2104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2247" cy="2104136"/>
            </a:xfrm>
            <a:custGeom>
              <a:avLst/>
              <a:gdLst/>
              <a:ahLst/>
              <a:cxnLst/>
              <a:rect r="r" b="b" t="t" l="l"/>
              <a:pathLst>
                <a:path h="2104136" w="452247">
                  <a:moveTo>
                    <a:pt x="0" y="0"/>
                  </a:moveTo>
                  <a:lnTo>
                    <a:pt x="452247" y="0"/>
                  </a:lnTo>
                  <a:lnTo>
                    <a:pt x="452247" y="2104136"/>
                  </a:lnTo>
                  <a:lnTo>
                    <a:pt x="0" y="21041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78992" y="9792462"/>
            <a:ext cx="4237082" cy="25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Politeknik Semen Indonesia • Orientasi Keuangan Mahasiswa Baru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922840" y="9498712"/>
            <a:ext cx="2186854" cy="3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43949" y="1314450"/>
            <a:ext cx="15585357" cy="7960443"/>
            <a:chOff x="0" y="0"/>
            <a:chExt cx="20780477" cy="106139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80502" cy="10613898"/>
            </a:xfrm>
            <a:custGeom>
              <a:avLst/>
              <a:gdLst/>
              <a:ahLst/>
              <a:cxnLst/>
              <a:rect r="r" b="b" t="t" l="l"/>
              <a:pathLst>
                <a:path h="10613898" w="20780502">
                  <a:moveTo>
                    <a:pt x="0" y="0"/>
                  </a:moveTo>
                  <a:lnTo>
                    <a:pt x="20780502" y="0"/>
                  </a:lnTo>
                  <a:lnTo>
                    <a:pt x="20780502" y="10613898"/>
                  </a:lnTo>
                  <a:lnTo>
                    <a:pt x="0" y="106138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532" t="0" r="-15532" b="0"/>
              </a:stretch>
            </a:blipFill>
            <a:ln w="114300" cap="sq">
              <a:solidFill>
                <a:srgbClr val="266F8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486699" y="2982859"/>
            <a:ext cx="17801301" cy="4321273"/>
            <a:chOff x="0" y="0"/>
            <a:chExt cx="23735068" cy="57616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735030" cy="5761736"/>
            </a:xfrm>
            <a:custGeom>
              <a:avLst/>
              <a:gdLst/>
              <a:ahLst/>
              <a:cxnLst/>
              <a:rect r="r" b="b" t="t" l="l"/>
              <a:pathLst>
                <a:path h="5761736" w="23735030">
                  <a:moveTo>
                    <a:pt x="0" y="0"/>
                  </a:moveTo>
                  <a:lnTo>
                    <a:pt x="23735030" y="0"/>
                  </a:lnTo>
                  <a:lnTo>
                    <a:pt x="23735030" y="5761736"/>
                  </a:lnTo>
                  <a:lnTo>
                    <a:pt x="0" y="57617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5400000">
            <a:off x="-922840" y="9498712"/>
            <a:ext cx="2186854" cy="3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56C8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51560" y="643890"/>
            <a:ext cx="2734266" cy="68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22D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Tujuan Sesi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8992" y="1507998"/>
            <a:ext cx="4518403" cy="34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Setelah sesi ini, mahasiswa diharapkan mampu: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90136" y="2324576"/>
            <a:ext cx="5089208" cy="2757488"/>
            <a:chOff x="0" y="0"/>
            <a:chExt cx="6785610" cy="36766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785610" cy="3676650"/>
            </a:xfrm>
            <a:custGeom>
              <a:avLst/>
              <a:gdLst/>
              <a:ahLst/>
              <a:cxnLst/>
              <a:rect r="r" b="b" t="t" l="l"/>
              <a:pathLst>
                <a:path h="3676650" w="6785610">
                  <a:moveTo>
                    <a:pt x="0" y="612775"/>
                  </a:moveTo>
                  <a:cubicBezTo>
                    <a:pt x="0" y="274320"/>
                    <a:pt x="274320" y="0"/>
                    <a:pt x="612775" y="0"/>
                  </a:cubicBezTo>
                  <a:lnTo>
                    <a:pt x="6172835" y="0"/>
                  </a:lnTo>
                  <a:cubicBezTo>
                    <a:pt x="6511290" y="0"/>
                    <a:pt x="6785610" y="274320"/>
                    <a:pt x="6785610" y="612775"/>
                  </a:cubicBezTo>
                  <a:lnTo>
                    <a:pt x="6785610" y="3063875"/>
                  </a:lnTo>
                  <a:cubicBezTo>
                    <a:pt x="6785610" y="3402330"/>
                    <a:pt x="6511290" y="3676650"/>
                    <a:pt x="6172835" y="3676650"/>
                  </a:cubicBezTo>
                  <a:lnTo>
                    <a:pt x="612775" y="3676650"/>
                  </a:lnTo>
                  <a:cubicBezTo>
                    <a:pt x="274320" y="3676650"/>
                    <a:pt x="0" y="3402330"/>
                    <a:pt x="0" y="3063875"/>
                  </a:cubicBezTo>
                  <a:close/>
                </a:path>
              </a:pathLst>
            </a:custGeom>
            <a:solidFill>
              <a:srgbClr val="F2F5F8"/>
            </a:solidFill>
            <a:ln w="14288" cap="sq">
              <a:solidFill>
                <a:srgbClr val="DCE1E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2331720"/>
            <a:ext cx="109728" cy="2743200"/>
            <a:chOff x="0" y="0"/>
            <a:chExt cx="146304" cy="3657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" cy="3657600"/>
            </a:xfrm>
            <a:custGeom>
              <a:avLst/>
              <a:gdLst/>
              <a:ahLst/>
              <a:cxnLst/>
              <a:rect r="r" b="b" t="t" l="l"/>
              <a:pathLst>
                <a:path h="3657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4BE23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531620" y="2632710"/>
            <a:ext cx="1681096" cy="458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22D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 • Paham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31620" y="3345942"/>
            <a:ext cx="4160977" cy="666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Memahami komponen biaya pendidikan dan alur administrasi pembayaran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576536" y="2324576"/>
            <a:ext cx="5089208" cy="2757488"/>
            <a:chOff x="0" y="0"/>
            <a:chExt cx="6785610" cy="367665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785610" cy="3676650"/>
            </a:xfrm>
            <a:custGeom>
              <a:avLst/>
              <a:gdLst/>
              <a:ahLst/>
              <a:cxnLst/>
              <a:rect r="r" b="b" t="t" l="l"/>
              <a:pathLst>
                <a:path h="3676650" w="6785610">
                  <a:moveTo>
                    <a:pt x="0" y="612775"/>
                  </a:moveTo>
                  <a:cubicBezTo>
                    <a:pt x="0" y="274320"/>
                    <a:pt x="274320" y="0"/>
                    <a:pt x="612775" y="0"/>
                  </a:cubicBezTo>
                  <a:lnTo>
                    <a:pt x="6172835" y="0"/>
                  </a:lnTo>
                  <a:cubicBezTo>
                    <a:pt x="6511290" y="0"/>
                    <a:pt x="6785610" y="274320"/>
                    <a:pt x="6785610" y="612775"/>
                  </a:cubicBezTo>
                  <a:lnTo>
                    <a:pt x="6785610" y="3063875"/>
                  </a:lnTo>
                  <a:cubicBezTo>
                    <a:pt x="6785610" y="3402330"/>
                    <a:pt x="6511290" y="3676650"/>
                    <a:pt x="6172835" y="3676650"/>
                  </a:cubicBezTo>
                  <a:lnTo>
                    <a:pt x="612775" y="3676650"/>
                  </a:lnTo>
                  <a:cubicBezTo>
                    <a:pt x="274320" y="3676650"/>
                    <a:pt x="0" y="3402330"/>
                    <a:pt x="0" y="3063875"/>
                  </a:cubicBezTo>
                  <a:close/>
                </a:path>
              </a:pathLst>
            </a:custGeom>
            <a:solidFill>
              <a:srgbClr val="F2F5F8"/>
            </a:solidFill>
            <a:ln w="14288" cap="sq">
              <a:solidFill>
                <a:srgbClr val="DCE1E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583680" y="2331720"/>
            <a:ext cx="109728" cy="2743200"/>
            <a:chOff x="0" y="0"/>
            <a:chExt cx="146304" cy="3657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304" cy="3657600"/>
            </a:xfrm>
            <a:custGeom>
              <a:avLst/>
              <a:gdLst/>
              <a:ahLst/>
              <a:cxnLst/>
              <a:rect r="r" b="b" t="t" l="l"/>
              <a:pathLst>
                <a:path h="3657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2D875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018020" y="2632710"/>
            <a:ext cx="1589723" cy="458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22D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 • Tertib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18020" y="3345942"/>
            <a:ext cx="4246797" cy="666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Mengetahui tenggat, bukti pembayaran, dan kanal informasi resmi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062936" y="2324576"/>
            <a:ext cx="5089208" cy="2757488"/>
            <a:chOff x="0" y="0"/>
            <a:chExt cx="6785610" cy="367665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785610" cy="3676650"/>
            </a:xfrm>
            <a:custGeom>
              <a:avLst/>
              <a:gdLst/>
              <a:ahLst/>
              <a:cxnLst/>
              <a:rect r="r" b="b" t="t" l="l"/>
              <a:pathLst>
                <a:path h="3676650" w="6785610">
                  <a:moveTo>
                    <a:pt x="0" y="612775"/>
                  </a:moveTo>
                  <a:cubicBezTo>
                    <a:pt x="0" y="274320"/>
                    <a:pt x="274320" y="0"/>
                    <a:pt x="612775" y="0"/>
                  </a:cubicBezTo>
                  <a:lnTo>
                    <a:pt x="6172835" y="0"/>
                  </a:lnTo>
                  <a:cubicBezTo>
                    <a:pt x="6511290" y="0"/>
                    <a:pt x="6785610" y="274320"/>
                    <a:pt x="6785610" y="612775"/>
                  </a:cubicBezTo>
                  <a:lnTo>
                    <a:pt x="6785610" y="3063875"/>
                  </a:lnTo>
                  <a:cubicBezTo>
                    <a:pt x="6785610" y="3402330"/>
                    <a:pt x="6511290" y="3676650"/>
                    <a:pt x="6172835" y="3676650"/>
                  </a:cubicBezTo>
                  <a:lnTo>
                    <a:pt x="612775" y="3676650"/>
                  </a:lnTo>
                  <a:cubicBezTo>
                    <a:pt x="274320" y="3676650"/>
                    <a:pt x="0" y="3402330"/>
                    <a:pt x="0" y="3063875"/>
                  </a:cubicBezTo>
                  <a:close/>
                </a:path>
              </a:pathLst>
            </a:custGeom>
            <a:solidFill>
              <a:srgbClr val="F2F5F8"/>
            </a:solidFill>
            <a:ln w="14288" cap="sq">
              <a:solidFill>
                <a:srgbClr val="DCE1E7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2070080" y="2331720"/>
            <a:ext cx="109728" cy="2743200"/>
            <a:chOff x="0" y="0"/>
            <a:chExt cx="146304" cy="3657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304" cy="3657600"/>
            </a:xfrm>
            <a:custGeom>
              <a:avLst/>
              <a:gdLst/>
              <a:ahLst/>
              <a:cxnLst/>
              <a:rect r="r" b="b" t="t" l="l"/>
              <a:pathLst>
                <a:path h="3657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4BE23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2504420" y="2632710"/>
            <a:ext cx="1464688" cy="458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22D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 • Bijak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504420" y="3345942"/>
            <a:ext cx="4438526" cy="666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Menyusun prioritas pengeluaran dan menghindari masalah finansial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3833336" y="5684996"/>
            <a:ext cx="5089208" cy="2483167"/>
            <a:chOff x="0" y="0"/>
            <a:chExt cx="6785610" cy="331089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785610" cy="3310890"/>
            </a:xfrm>
            <a:custGeom>
              <a:avLst/>
              <a:gdLst/>
              <a:ahLst/>
              <a:cxnLst/>
              <a:rect r="r" b="b" t="t" l="l"/>
              <a:pathLst>
                <a:path h="3310890" w="6785610">
                  <a:moveTo>
                    <a:pt x="0" y="551815"/>
                  </a:moveTo>
                  <a:cubicBezTo>
                    <a:pt x="0" y="247015"/>
                    <a:pt x="247015" y="0"/>
                    <a:pt x="551815" y="0"/>
                  </a:cubicBezTo>
                  <a:lnTo>
                    <a:pt x="6233795" y="0"/>
                  </a:lnTo>
                  <a:cubicBezTo>
                    <a:pt x="6538595" y="0"/>
                    <a:pt x="6785610" y="247015"/>
                    <a:pt x="6785610" y="551815"/>
                  </a:cubicBezTo>
                  <a:lnTo>
                    <a:pt x="6785610" y="2759075"/>
                  </a:lnTo>
                  <a:cubicBezTo>
                    <a:pt x="6785610" y="3063875"/>
                    <a:pt x="6538595" y="3310890"/>
                    <a:pt x="6233795" y="3310890"/>
                  </a:cubicBezTo>
                  <a:lnTo>
                    <a:pt x="551815" y="3310890"/>
                  </a:lnTo>
                  <a:cubicBezTo>
                    <a:pt x="247015" y="3310890"/>
                    <a:pt x="0" y="3063875"/>
                    <a:pt x="0" y="2759075"/>
                  </a:cubicBezTo>
                  <a:close/>
                </a:path>
              </a:pathLst>
            </a:custGeom>
            <a:solidFill>
              <a:srgbClr val="F2F5F8"/>
            </a:solidFill>
            <a:ln w="14288" cap="sq">
              <a:solidFill>
                <a:srgbClr val="DCE1E7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3840480" y="5692140"/>
            <a:ext cx="109728" cy="2468880"/>
            <a:chOff x="0" y="0"/>
            <a:chExt cx="146304" cy="3291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6304" cy="3291840"/>
            </a:xfrm>
            <a:custGeom>
              <a:avLst/>
              <a:gdLst/>
              <a:ahLst/>
              <a:cxnLst/>
              <a:rect r="r" b="b" t="t" l="l"/>
              <a:pathLst>
                <a:path h="32918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D875F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4274820" y="5993130"/>
            <a:ext cx="3453213" cy="458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22D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04 • Bertanggung jawab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274820" y="6706362"/>
            <a:ext cx="4219956" cy="666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Menjaga integritas dalam setiap transaksi dan administrasi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319736" y="5684996"/>
            <a:ext cx="5089208" cy="2483167"/>
            <a:chOff x="0" y="0"/>
            <a:chExt cx="6785610" cy="331089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785610" cy="3310890"/>
            </a:xfrm>
            <a:custGeom>
              <a:avLst/>
              <a:gdLst/>
              <a:ahLst/>
              <a:cxnLst/>
              <a:rect r="r" b="b" t="t" l="l"/>
              <a:pathLst>
                <a:path h="3310890" w="6785610">
                  <a:moveTo>
                    <a:pt x="0" y="551815"/>
                  </a:moveTo>
                  <a:cubicBezTo>
                    <a:pt x="0" y="247015"/>
                    <a:pt x="247015" y="0"/>
                    <a:pt x="551815" y="0"/>
                  </a:cubicBezTo>
                  <a:lnTo>
                    <a:pt x="6233795" y="0"/>
                  </a:lnTo>
                  <a:cubicBezTo>
                    <a:pt x="6538595" y="0"/>
                    <a:pt x="6785610" y="247015"/>
                    <a:pt x="6785610" y="551815"/>
                  </a:cubicBezTo>
                  <a:lnTo>
                    <a:pt x="6785610" y="2759075"/>
                  </a:lnTo>
                  <a:cubicBezTo>
                    <a:pt x="6785610" y="3063875"/>
                    <a:pt x="6538595" y="3310890"/>
                    <a:pt x="6233795" y="3310890"/>
                  </a:cubicBezTo>
                  <a:lnTo>
                    <a:pt x="551815" y="3310890"/>
                  </a:lnTo>
                  <a:cubicBezTo>
                    <a:pt x="247015" y="3310890"/>
                    <a:pt x="0" y="3063875"/>
                    <a:pt x="0" y="2759075"/>
                  </a:cubicBezTo>
                  <a:close/>
                </a:path>
              </a:pathLst>
            </a:custGeom>
            <a:solidFill>
              <a:srgbClr val="F2F5F8"/>
            </a:solidFill>
            <a:ln w="14288" cap="sq">
              <a:solidFill>
                <a:srgbClr val="DCE1E7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326880" y="5692140"/>
            <a:ext cx="109728" cy="2468880"/>
            <a:chOff x="0" y="0"/>
            <a:chExt cx="146304" cy="32918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46304" cy="3291840"/>
            </a:xfrm>
            <a:custGeom>
              <a:avLst/>
              <a:gdLst/>
              <a:ahLst/>
              <a:cxnLst/>
              <a:rect r="r" b="b" t="t" l="l"/>
              <a:pathLst>
                <a:path h="329184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F4BE23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9761220" y="5993130"/>
            <a:ext cx="1863833" cy="458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22D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05 • Mandiri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761220" y="6706362"/>
            <a:ext cx="4594860" cy="666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Mulai membangun kebiasaan mencatat, merencanakan, dan mengevaluasi uang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78992" y="9777717"/>
            <a:ext cx="4237082" cy="25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Politeknik Semen Indonesia • Orientasi Keuangan Mahasiswa Baru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922840" y="9498712"/>
            <a:ext cx="2186854" cy="3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9525" y="-9525"/>
            <a:ext cx="18307050" cy="5408466"/>
            <a:chOff x="0" y="0"/>
            <a:chExt cx="24409400" cy="72112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09400" cy="7211314"/>
            </a:xfrm>
            <a:custGeom>
              <a:avLst/>
              <a:gdLst/>
              <a:ahLst/>
              <a:cxnLst/>
              <a:rect r="r" b="b" t="t" l="l"/>
              <a:pathLst>
                <a:path h="7211314" w="24409400">
                  <a:moveTo>
                    <a:pt x="0" y="0"/>
                  </a:moveTo>
                  <a:lnTo>
                    <a:pt x="24409400" y="0"/>
                  </a:lnTo>
                  <a:lnTo>
                    <a:pt x="24409400" y="7211314"/>
                  </a:lnTo>
                  <a:lnTo>
                    <a:pt x="0" y="7211314"/>
                  </a:lnTo>
                  <a:close/>
                </a:path>
              </a:pathLst>
            </a:custGeom>
            <a:solidFill>
              <a:srgbClr val="000000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817416" y="1297857"/>
            <a:ext cx="16653167" cy="8220208"/>
            <a:chOff x="0" y="0"/>
            <a:chExt cx="22204223" cy="109602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204172" cy="10960227"/>
            </a:xfrm>
            <a:custGeom>
              <a:avLst/>
              <a:gdLst/>
              <a:ahLst/>
              <a:cxnLst/>
              <a:rect r="r" b="b" t="t" l="l"/>
              <a:pathLst>
                <a:path h="10960227" w="22204172">
                  <a:moveTo>
                    <a:pt x="0" y="0"/>
                  </a:moveTo>
                  <a:lnTo>
                    <a:pt x="22204172" y="0"/>
                  </a:lnTo>
                  <a:lnTo>
                    <a:pt x="22204172" y="10960227"/>
                  </a:lnTo>
                  <a:lnTo>
                    <a:pt x="0" y="10960227"/>
                  </a:lnTo>
                  <a:close/>
                </a:path>
              </a:pathLst>
            </a:custGeom>
            <a:solidFill>
              <a:srgbClr val="266F8B"/>
            </a:solidFill>
          </p:spPr>
        </p:sp>
      </p:grpSp>
      <p:sp>
        <p:nvSpPr>
          <p:cNvPr name="TextBox 7" id="7"/>
          <p:cNvSpPr txBox="true"/>
          <p:nvPr/>
        </p:nvSpPr>
        <p:spPr>
          <a:xfrm rot="5400000">
            <a:off x="-922840" y="9498712"/>
            <a:ext cx="2186854" cy="3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56C8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51560" y="643890"/>
            <a:ext cx="10236317" cy="68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22D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Memahami Komponen Keuangan Mahasiswa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5880" y="2143125"/>
            <a:ext cx="15453360" cy="48076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78656" indent="-339328" lvl="1">
              <a:lnSpc>
                <a:spcPts val="4500"/>
              </a:lnSpc>
              <a:buFont typeface="Arial"/>
              <a:buChar char="•"/>
            </a:pPr>
            <a:r>
              <a:rPr lang="en-US" sz="37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Biaya pendidikan : SPP, SBI</a:t>
            </a:r>
          </a:p>
          <a:p>
            <a:pPr algn="just" marL="678656" indent="-339328" lvl="1">
              <a:lnSpc>
                <a:spcPts val="4500"/>
              </a:lnSpc>
              <a:buFont typeface="Arial"/>
              <a:buChar char="•"/>
            </a:pPr>
            <a:r>
              <a:rPr lang="en-US" sz="37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Biaya pendukung akademik: kebutuhan praktikum, kegiatan akademik, atau layanan tertentu sesuai program/kegiatan</a:t>
            </a:r>
          </a:p>
          <a:p>
            <a:pPr algn="just" marL="678656" indent="-339328" lvl="1">
              <a:lnSpc>
                <a:spcPts val="4500"/>
              </a:lnSpc>
              <a:buFont typeface="Arial"/>
              <a:buChar char="•"/>
            </a:pPr>
            <a:r>
              <a:rPr lang="en-US" sz="37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Biaya personal: transportasi, makan, tempat tinggal, kuota/internet, perlengkapan kuliah, dan kebutuhan harian.</a:t>
            </a:r>
          </a:p>
          <a:p>
            <a:pPr algn="just" marL="678656" indent="-339328" lvl="1">
              <a:lnSpc>
                <a:spcPts val="4500"/>
              </a:lnSpc>
              <a:buFont typeface="Arial"/>
              <a:buChar char="•"/>
            </a:pPr>
            <a:r>
              <a:rPr lang="en-US" sz="37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Dana darurat: cadangan untuk kebutuhan tak terduga, tidak perlu besar di awal yang penting konsisten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22327" y="8012582"/>
            <a:ext cx="15453360" cy="53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Catatan penting: nominal, jadwal, dan ketentuan pembayaran mengikuti pengumuman resmi kampus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8992" y="9792462"/>
            <a:ext cx="4237082" cy="25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Politeknik Semen Indonesia • Orientasi Keuangan Mahasiswa Baru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922840" y="9498712"/>
            <a:ext cx="2186854" cy="3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51560" y="643890"/>
            <a:ext cx="8952309" cy="68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22D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Alur Pembayaran yang Perlu Dipahami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8992" y="1507998"/>
            <a:ext cx="5297462" cy="34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Gunakan prinsip: cek → bayar → simpan → konfirmasi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057400" y="2331720"/>
            <a:ext cx="960120" cy="960120"/>
            <a:chOff x="0" y="0"/>
            <a:chExt cx="1280160" cy="1280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F4BE23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280160" cy="1299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1556" y="3627596"/>
            <a:ext cx="3168967" cy="3237548"/>
            <a:chOff x="0" y="0"/>
            <a:chExt cx="4225290" cy="43167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225290" cy="4316730"/>
            </a:xfrm>
            <a:custGeom>
              <a:avLst/>
              <a:gdLst/>
              <a:ahLst/>
              <a:cxnLst/>
              <a:rect r="r" b="b" t="t" l="l"/>
              <a:pathLst>
                <a:path h="4316730" w="4225290">
                  <a:moveTo>
                    <a:pt x="0" y="704215"/>
                  </a:moveTo>
                  <a:cubicBezTo>
                    <a:pt x="0" y="315341"/>
                    <a:pt x="315341" y="0"/>
                    <a:pt x="704215" y="0"/>
                  </a:cubicBezTo>
                  <a:lnTo>
                    <a:pt x="3521075" y="0"/>
                  </a:lnTo>
                  <a:cubicBezTo>
                    <a:pt x="3909949" y="0"/>
                    <a:pt x="4225290" y="315341"/>
                    <a:pt x="4225290" y="704215"/>
                  </a:cubicBezTo>
                  <a:lnTo>
                    <a:pt x="4225290" y="3612515"/>
                  </a:lnTo>
                  <a:cubicBezTo>
                    <a:pt x="4225290" y="4001389"/>
                    <a:pt x="3909949" y="4316730"/>
                    <a:pt x="3521075" y="4316730"/>
                  </a:cubicBezTo>
                  <a:lnTo>
                    <a:pt x="704215" y="4316730"/>
                  </a:lnTo>
                  <a:cubicBezTo>
                    <a:pt x="315341" y="4316730"/>
                    <a:pt x="0" y="4001389"/>
                    <a:pt x="0" y="3612515"/>
                  </a:cubicBezTo>
                  <a:close/>
                </a:path>
              </a:pathLst>
            </a:custGeom>
            <a:solidFill>
              <a:srgbClr val="F2F5F8"/>
            </a:solidFill>
            <a:ln w="14288" cap="sq">
              <a:solidFill>
                <a:srgbClr val="DCE1E7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28700" y="3634740"/>
            <a:ext cx="109728" cy="3223260"/>
            <a:chOff x="0" y="0"/>
            <a:chExt cx="146304" cy="4297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" cy="4297680"/>
            </a:xfrm>
            <a:custGeom>
              <a:avLst/>
              <a:gdLst/>
              <a:ahLst/>
              <a:cxnLst/>
              <a:rect r="r" b="b" t="t" l="l"/>
              <a:pathLst>
                <a:path h="42976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4297680"/>
                  </a:lnTo>
                  <a:lnTo>
                    <a:pt x="0" y="4297680"/>
                  </a:lnTo>
                  <a:close/>
                </a:path>
              </a:pathLst>
            </a:custGeom>
            <a:solidFill>
              <a:srgbClr val="F4BE2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463040" y="3935730"/>
            <a:ext cx="2448125" cy="458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22D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CEK TAGIHAN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63040" y="4648962"/>
            <a:ext cx="2060458" cy="966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Periksa nominal, periode, dan batas pembayaran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486400" y="2331720"/>
            <a:ext cx="960120" cy="960120"/>
            <a:chOff x="0" y="0"/>
            <a:chExt cx="1280160" cy="12801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F4BE23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280160" cy="1299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450556" y="3627596"/>
            <a:ext cx="3168967" cy="3237548"/>
            <a:chOff x="0" y="0"/>
            <a:chExt cx="4225290" cy="431673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25290" cy="4316730"/>
            </a:xfrm>
            <a:custGeom>
              <a:avLst/>
              <a:gdLst/>
              <a:ahLst/>
              <a:cxnLst/>
              <a:rect r="r" b="b" t="t" l="l"/>
              <a:pathLst>
                <a:path h="4316730" w="4225290">
                  <a:moveTo>
                    <a:pt x="0" y="704215"/>
                  </a:moveTo>
                  <a:cubicBezTo>
                    <a:pt x="0" y="315341"/>
                    <a:pt x="315341" y="0"/>
                    <a:pt x="704215" y="0"/>
                  </a:cubicBezTo>
                  <a:lnTo>
                    <a:pt x="3521075" y="0"/>
                  </a:lnTo>
                  <a:cubicBezTo>
                    <a:pt x="3909949" y="0"/>
                    <a:pt x="4225290" y="315341"/>
                    <a:pt x="4225290" y="704215"/>
                  </a:cubicBezTo>
                  <a:lnTo>
                    <a:pt x="4225290" y="3612515"/>
                  </a:lnTo>
                  <a:cubicBezTo>
                    <a:pt x="4225290" y="4001389"/>
                    <a:pt x="3909949" y="4316730"/>
                    <a:pt x="3521075" y="4316730"/>
                  </a:cubicBezTo>
                  <a:lnTo>
                    <a:pt x="704215" y="4316730"/>
                  </a:lnTo>
                  <a:cubicBezTo>
                    <a:pt x="315341" y="4316730"/>
                    <a:pt x="0" y="4001389"/>
                    <a:pt x="0" y="3612515"/>
                  </a:cubicBezTo>
                  <a:close/>
                </a:path>
              </a:pathLst>
            </a:custGeom>
            <a:solidFill>
              <a:srgbClr val="F2F5F8"/>
            </a:solidFill>
            <a:ln w="14288" cap="sq">
              <a:solidFill>
                <a:srgbClr val="DCE1E7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4457700" y="3634740"/>
            <a:ext cx="109728" cy="3223260"/>
            <a:chOff x="0" y="0"/>
            <a:chExt cx="146304" cy="42976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" cy="4297680"/>
            </a:xfrm>
            <a:custGeom>
              <a:avLst/>
              <a:gdLst/>
              <a:ahLst/>
              <a:cxnLst/>
              <a:rect r="r" b="b" t="t" l="l"/>
              <a:pathLst>
                <a:path h="42976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4297680"/>
                  </a:lnTo>
                  <a:lnTo>
                    <a:pt x="0" y="4297680"/>
                  </a:lnTo>
                  <a:close/>
                </a:path>
              </a:pathLst>
            </a:custGeom>
            <a:solidFill>
              <a:srgbClr val="2D875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4892040" y="3935730"/>
            <a:ext cx="2628900" cy="850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60"/>
              </a:lnSpc>
            </a:pPr>
            <a:r>
              <a:rPr lang="en-US" sz="2550" b="true">
                <a:solidFill>
                  <a:srgbClr val="122D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GUNAKAN KANAL RESMI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888878" y="5087541"/>
            <a:ext cx="2628900" cy="666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Bayar melalui metode yang ditetapkan kampus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915400" y="2331720"/>
            <a:ext cx="960120" cy="960120"/>
            <a:chOff x="0" y="0"/>
            <a:chExt cx="1280160" cy="1280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F4BE23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280160" cy="1299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3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879556" y="3627596"/>
            <a:ext cx="3168967" cy="3237548"/>
            <a:chOff x="0" y="0"/>
            <a:chExt cx="4225290" cy="431673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225290" cy="4316730"/>
            </a:xfrm>
            <a:custGeom>
              <a:avLst/>
              <a:gdLst/>
              <a:ahLst/>
              <a:cxnLst/>
              <a:rect r="r" b="b" t="t" l="l"/>
              <a:pathLst>
                <a:path h="4316730" w="4225290">
                  <a:moveTo>
                    <a:pt x="0" y="704215"/>
                  </a:moveTo>
                  <a:cubicBezTo>
                    <a:pt x="0" y="315341"/>
                    <a:pt x="315341" y="0"/>
                    <a:pt x="704215" y="0"/>
                  </a:cubicBezTo>
                  <a:lnTo>
                    <a:pt x="3521075" y="0"/>
                  </a:lnTo>
                  <a:cubicBezTo>
                    <a:pt x="3909949" y="0"/>
                    <a:pt x="4225290" y="315341"/>
                    <a:pt x="4225290" y="704215"/>
                  </a:cubicBezTo>
                  <a:lnTo>
                    <a:pt x="4225290" y="3612515"/>
                  </a:lnTo>
                  <a:cubicBezTo>
                    <a:pt x="4225290" y="4001389"/>
                    <a:pt x="3909949" y="4316730"/>
                    <a:pt x="3521075" y="4316730"/>
                  </a:cubicBezTo>
                  <a:lnTo>
                    <a:pt x="704215" y="4316730"/>
                  </a:lnTo>
                  <a:cubicBezTo>
                    <a:pt x="315341" y="4316730"/>
                    <a:pt x="0" y="4001389"/>
                    <a:pt x="0" y="3612515"/>
                  </a:cubicBezTo>
                  <a:close/>
                </a:path>
              </a:pathLst>
            </a:custGeom>
            <a:solidFill>
              <a:srgbClr val="F2F5F8"/>
            </a:solidFill>
            <a:ln w="14288" cap="sq">
              <a:solidFill>
                <a:srgbClr val="DCE1E7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7886700" y="3634740"/>
            <a:ext cx="109728" cy="3223260"/>
            <a:chOff x="0" y="0"/>
            <a:chExt cx="146304" cy="42976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6304" cy="4297680"/>
            </a:xfrm>
            <a:custGeom>
              <a:avLst/>
              <a:gdLst/>
              <a:ahLst/>
              <a:cxnLst/>
              <a:rect r="r" b="b" t="t" l="l"/>
              <a:pathLst>
                <a:path h="42976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4297680"/>
                  </a:lnTo>
                  <a:lnTo>
                    <a:pt x="0" y="4297680"/>
                  </a:lnTo>
                  <a:close/>
                </a:path>
              </a:pathLst>
            </a:custGeom>
            <a:solidFill>
              <a:srgbClr val="F4BE23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8321040" y="3935730"/>
            <a:ext cx="2520267" cy="458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22D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SIMPAN BUKTI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321040" y="4648962"/>
            <a:ext cx="2199875" cy="966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Screenshot/struk disimpan sampai administrasi selesai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2344400" y="2331720"/>
            <a:ext cx="960120" cy="960120"/>
            <a:chOff x="0" y="0"/>
            <a:chExt cx="1280160" cy="12801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F4BE23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280160" cy="1299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4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308556" y="3627596"/>
            <a:ext cx="3168967" cy="3237548"/>
            <a:chOff x="0" y="0"/>
            <a:chExt cx="4225290" cy="431673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225290" cy="4316730"/>
            </a:xfrm>
            <a:custGeom>
              <a:avLst/>
              <a:gdLst/>
              <a:ahLst/>
              <a:cxnLst/>
              <a:rect r="r" b="b" t="t" l="l"/>
              <a:pathLst>
                <a:path h="4316730" w="4225290">
                  <a:moveTo>
                    <a:pt x="0" y="704215"/>
                  </a:moveTo>
                  <a:cubicBezTo>
                    <a:pt x="0" y="315341"/>
                    <a:pt x="315341" y="0"/>
                    <a:pt x="704215" y="0"/>
                  </a:cubicBezTo>
                  <a:lnTo>
                    <a:pt x="3521075" y="0"/>
                  </a:lnTo>
                  <a:cubicBezTo>
                    <a:pt x="3909949" y="0"/>
                    <a:pt x="4225290" y="315341"/>
                    <a:pt x="4225290" y="704215"/>
                  </a:cubicBezTo>
                  <a:lnTo>
                    <a:pt x="4225290" y="3612515"/>
                  </a:lnTo>
                  <a:cubicBezTo>
                    <a:pt x="4225290" y="4001389"/>
                    <a:pt x="3909949" y="4316730"/>
                    <a:pt x="3521075" y="4316730"/>
                  </a:cubicBezTo>
                  <a:lnTo>
                    <a:pt x="704215" y="4316730"/>
                  </a:lnTo>
                  <a:cubicBezTo>
                    <a:pt x="315341" y="4316730"/>
                    <a:pt x="0" y="4001389"/>
                    <a:pt x="0" y="3612515"/>
                  </a:cubicBezTo>
                  <a:close/>
                </a:path>
              </a:pathLst>
            </a:custGeom>
            <a:solidFill>
              <a:srgbClr val="F2F5F8"/>
            </a:solidFill>
            <a:ln w="14288" cap="sq">
              <a:solidFill>
                <a:srgbClr val="DCE1E7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1315700" y="3634740"/>
            <a:ext cx="109728" cy="3223260"/>
            <a:chOff x="0" y="0"/>
            <a:chExt cx="146304" cy="42976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46304" cy="4297680"/>
            </a:xfrm>
            <a:custGeom>
              <a:avLst/>
              <a:gdLst/>
              <a:ahLst/>
              <a:cxnLst/>
              <a:rect r="r" b="b" t="t" l="l"/>
              <a:pathLst>
                <a:path h="42976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4297680"/>
                  </a:lnTo>
                  <a:lnTo>
                    <a:pt x="0" y="4297680"/>
                  </a:lnTo>
                  <a:close/>
                </a:path>
              </a:pathLst>
            </a:custGeom>
            <a:solidFill>
              <a:srgbClr val="2D875F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1750040" y="3935730"/>
            <a:ext cx="2255768" cy="458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22D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KONFIRMASI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626596" y="4648962"/>
            <a:ext cx="2638501" cy="666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Jika diminta, lakukan verifikasi sesuai prosedur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5773400" y="2331720"/>
            <a:ext cx="960120" cy="960120"/>
            <a:chOff x="0" y="0"/>
            <a:chExt cx="1280160" cy="12801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F4BE23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1280160" cy="12992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5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4737556" y="3627596"/>
            <a:ext cx="3168967" cy="3237548"/>
            <a:chOff x="0" y="0"/>
            <a:chExt cx="4225290" cy="431673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225290" cy="4316730"/>
            </a:xfrm>
            <a:custGeom>
              <a:avLst/>
              <a:gdLst/>
              <a:ahLst/>
              <a:cxnLst/>
              <a:rect r="r" b="b" t="t" l="l"/>
              <a:pathLst>
                <a:path h="4316730" w="4225290">
                  <a:moveTo>
                    <a:pt x="0" y="704215"/>
                  </a:moveTo>
                  <a:cubicBezTo>
                    <a:pt x="0" y="315341"/>
                    <a:pt x="315341" y="0"/>
                    <a:pt x="704215" y="0"/>
                  </a:cubicBezTo>
                  <a:lnTo>
                    <a:pt x="3521075" y="0"/>
                  </a:lnTo>
                  <a:cubicBezTo>
                    <a:pt x="3909949" y="0"/>
                    <a:pt x="4225290" y="315341"/>
                    <a:pt x="4225290" y="704215"/>
                  </a:cubicBezTo>
                  <a:lnTo>
                    <a:pt x="4225290" y="3612515"/>
                  </a:lnTo>
                  <a:cubicBezTo>
                    <a:pt x="4225290" y="4001389"/>
                    <a:pt x="3909949" y="4316730"/>
                    <a:pt x="3521075" y="4316730"/>
                  </a:cubicBezTo>
                  <a:lnTo>
                    <a:pt x="704215" y="4316730"/>
                  </a:lnTo>
                  <a:cubicBezTo>
                    <a:pt x="315341" y="4316730"/>
                    <a:pt x="0" y="4001389"/>
                    <a:pt x="0" y="3612515"/>
                  </a:cubicBezTo>
                  <a:close/>
                </a:path>
              </a:pathLst>
            </a:custGeom>
            <a:solidFill>
              <a:srgbClr val="F2F5F8"/>
            </a:solidFill>
            <a:ln w="14288" cap="sq">
              <a:solidFill>
                <a:srgbClr val="DCE1E7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4744700" y="3634740"/>
            <a:ext cx="109728" cy="3223260"/>
            <a:chOff x="0" y="0"/>
            <a:chExt cx="146304" cy="42976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46304" cy="4297680"/>
            </a:xfrm>
            <a:custGeom>
              <a:avLst/>
              <a:gdLst/>
              <a:ahLst/>
              <a:cxnLst/>
              <a:rect r="r" b="b" t="t" l="l"/>
              <a:pathLst>
                <a:path h="429768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4297680"/>
                  </a:lnTo>
                  <a:lnTo>
                    <a:pt x="0" y="4297680"/>
                  </a:lnTo>
                  <a:close/>
                </a:path>
              </a:pathLst>
            </a:custGeom>
            <a:solidFill>
              <a:srgbClr val="F4BE23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5179040" y="3935730"/>
            <a:ext cx="2159594" cy="458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22D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CEK STATUS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5179040" y="4648962"/>
            <a:ext cx="2409444" cy="126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Pastikan pembayaran tercatat pada sistem/administrasi kampus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78992" y="9792462"/>
            <a:ext cx="4237082" cy="25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Politeknik Semen Indonesia • Orientasi Keuangan Mahasiswa Baru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922840" y="9498712"/>
            <a:ext cx="2186854" cy="3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51560" y="643890"/>
            <a:ext cx="8966740" cy="68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60"/>
              </a:lnSpc>
            </a:pPr>
            <a:r>
              <a:rPr lang="en-US" sz="4050" b="true">
                <a:solidFill>
                  <a:srgbClr val="122D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Jangan Lewatkan Tenggat Pembayaran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27296" y="2255996"/>
            <a:ext cx="7420928" cy="2757488"/>
            <a:chOff x="0" y="0"/>
            <a:chExt cx="9894570" cy="36766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894570" cy="3676650"/>
            </a:xfrm>
            <a:custGeom>
              <a:avLst/>
              <a:gdLst/>
              <a:ahLst/>
              <a:cxnLst/>
              <a:rect r="r" b="b" t="t" l="l"/>
              <a:pathLst>
                <a:path h="3676650" w="9894570">
                  <a:moveTo>
                    <a:pt x="0" y="612775"/>
                  </a:moveTo>
                  <a:cubicBezTo>
                    <a:pt x="0" y="274320"/>
                    <a:pt x="274320" y="0"/>
                    <a:pt x="612775" y="0"/>
                  </a:cubicBezTo>
                  <a:lnTo>
                    <a:pt x="9281795" y="0"/>
                  </a:lnTo>
                  <a:cubicBezTo>
                    <a:pt x="9620250" y="0"/>
                    <a:pt x="9894570" y="274320"/>
                    <a:pt x="9894570" y="612775"/>
                  </a:cubicBezTo>
                  <a:lnTo>
                    <a:pt x="9894570" y="3063875"/>
                  </a:lnTo>
                  <a:cubicBezTo>
                    <a:pt x="9894570" y="3402330"/>
                    <a:pt x="9620250" y="3676650"/>
                    <a:pt x="9281795" y="3676650"/>
                  </a:cubicBezTo>
                  <a:lnTo>
                    <a:pt x="612775" y="3676650"/>
                  </a:lnTo>
                  <a:cubicBezTo>
                    <a:pt x="274320" y="3676650"/>
                    <a:pt x="0" y="3402330"/>
                    <a:pt x="0" y="3063875"/>
                  </a:cubicBezTo>
                  <a:close/>
                </a:path>
              </a:pathLst>
            </a:custGeom>
            <a:solidFill>
              <a:srgbClr val="F2F5F8"/>
            </a:solidFill>
            <a:ln w="14288" cap="sq">
              <a:solidFill>
                <a:srgbClr val="DCE1E7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34440" y="2263140"/>
            <a:ext cx="109728" cy="2743200"/>
            <a:chOff x="0" y="0"/>
            <a:chExt cx="146304" cy="3657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304" cy="3657600"/>
            </a:xfrm>
            <a:custGeom>
              <a:avLst/>
              <a:gdLst/>
              <a:ahLst/>
              <a:cxnLst/>
              <a:rect r="r" b="b" t="t" l="l"/>
              <a:pathLst>
                <a:path h="3657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4BE23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68780" y="2564130"/>
            <a:ext cx="3602288" cy="458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60"/>
              </a:lnSpc>
            </a:pPr>
            <a:r>
              <a:rPr lang="en-US" sz="2550" b="true">
                <a:solidFill>
                  <a:srgbClr val="122D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Kenapa tenggat penting?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68780" y="3277362"/>
            <a:ext cx="6880860" cy="666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Keterlambatan dapat berdampak pada proses administrasi akademik sesuai ketentuan kampus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94056" y="2255996"/>
            <a:ext cx="7420928" cy="2757488"/>
            <a:chOff x="0" y="0"/>
            <a:chExt cx="9894570" cy="36766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894570" cy="3676650"/>
            </a:xfrm>
            <a:custGeom>
              <a:avLst/>
              <a:gdLst/>
              <a:ahLst/>
              <a:cxnLst/>
              <a:rect r="r" b="b" t="t" l="l"/>
              <a:pathLst>
                <a:path h="3676650" w="9894570">
                  <a:moveTo>
                    <a:pt x="0" y="612775"/>
                  </a:moveTo>
                  <a:cubicBezTo>
                    <a:pt x="0" y="274320"/>
                    <a:pt x="274320" y="0"/>
                    <a:pt x="612775" y="0"/>
                  </a:cubicBezTo>
                  <a:lnTo>
                    <a:pt x="9281795" y="0"/>
                  </a:lnTo>
                  <a:cubicBezTo>
                    <a:pt x="9620250" y="0"/>
                    <a:pt x="9894570" y="274320"/>
                    <a:pt x="9894570" y="612775"/>
                  </a:cubicBezTo>
                  <a:lnTo>
                    <a:pt x="9894570" y="3063875"/>
                  </a:lnTo>
                  <a:cubicBezTo>
                    <a:pt x="9894570" y="3402330"/>
                    <a:pt x="9620250" y="3676650"/>
                    <a:pt x="9281795" y="3676650"/>
                  </a:cubicBezTo>
                  <a:lnTo>
                    <a:pt x="612775" y="3676650"/>
                  </a:lnTo>
                  <a:cubicBezTo>
                    <a:pt x="274320" y="3676650"/>
                    <a:pt x="0" y="3402330"/>
                    <a:pt x="0" y="3063875"/>
                  </a:cubicBezTo>
                  <a:close/>
                </a:path>
              </a:pathLst>
            </a:custGeom>
            <a:solidFill>
              <a:srgbClr val="F2F5F8"/>
            </a:solidFill>
            <a:ln w="14288" cap="sq">
              <a:solidFill>
                <a:srgbClr val="DCE1E7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0" y="2263140"/>
            <a:ext cx="109728" cy="2743200"/>
            <a:chOff x="0" y="0"/>
            <a:chExt cx="146304" cy="3657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" cy="3657600"/>
            </a:xfrm>
            <a:custGeom>
              <a:avLst/>
              <a:gdLst/>
              <a:ahLst/>
              <a:cxnLst/>
              <a:rect r="r" b="b" t="t" l="l"/>
              <a:pathLst>
                <a:path h="365760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2D875F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035540" y="2564130"/>
            <a:ext cx="3186313" cy="458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60"/>
              </a:lnSpc>
            </a:pPr>
            <a:r>
              <a:rPr lang="en-US" sz="2550" b="true">
                <a:solidFill>
                  <a:srgbClr val="122D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Kebiasaan yang aman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035540" y="3277362"/>
            <a:ext cx="6479705" cy="666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Pasang pengingat kalender, cek pengumuman resmi, dan jangan menunggu hari terakhir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27296" y="5547836"/>
            <a:ext cx="15787688" cy="2277428"/>
            <a:chOff x="0" y="0"/>
            <a:chExt cx="21050250" cy="303657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050250" cy="3036570"/>
            </a:xfrm>
            <a:custGeom>
              <a:avLst/>
              <a:gdLst/>
              <a:ahLst/>
              <a:cxnLst/>
              <a:rect r="r" b="b" t="t" l="l"/>
              <a:pathLst>
                <a:path h="3036570" w="21050250">
                  <a:moveTo>
                    <a:pt x="0" y="506095"/>
                  </a:moveTo>
                  <a:cubicBezTo>
                    <a:pt x="0" y="226568"/>
                    <a:pt x="226568" y="0"/>
                    <a:pt x="506095" y="0"/>
                  </a:cubicBezTo>
                  <a:lnTo>
                    <a:pt x="20544155" y="0"/>
                  </a:lnTo>
                  <a:cubicBezTo>
                    <a:pt x="20823682" y="0"/>
                    <a:pt x="21050250" y="226568"/>
                    <a:pt x="21050250" y="506095"/>
                  </a:cubicBezTo>
                  <a:lnTo>
                    <a:pt x="21050250" y="2530475"/>
                  </a:lnTo>
                  <a:cubicBezTo>
                    <a:pt x="21050250" y="2810002"/>
                    <a:pt x="20823682" y="3036570"/>
                    <a:pt x="20544155" y="3036570"/>
                  </a:cubicBezTo>
                  <a:lnTo>
                    <a:pt x="506095" y="3036570"/>
                  </a:lnTo>
                  <a:cubicBezTo>
                    <a:pt x="226568" y="3036570"/>
                    <a:pt x="0" y="2810002"/>
                    <a:pt x="0" y="2530475"/>
                  </a:cubicBezTo>
                  <a:close/>
                </a:path>
              </a:pathLst>
            </a:custGeom>
            <a:solidFill>
              <a:srgbClr val="F2F5F8"/>
            </a:solidFill>
            <a:ln w="14288" cap="sq">
              <a:solidFill>
                <a:srgbClr val="DCE1E7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234440" y="5554980"/>
            <a:ext cx="109728" cy="2263140"/>
            <a:chOff x="0" y="0"/>
            <a:chExt cx="146304" cy="3017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6304" cy="3017520"/>
            </a:xfrm>
            <a:custGeom>
              <a:avLst/>
              <a:gdLst/>
              <a:ahLst/>
              <a:cxnLst/>
              <a:rect r="r" b="b" t="t" l="l"/>
              <a:pathLst>
                <a:path h="30175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3017520"/>
                  </a:lnTo>
                  <a:lnTo>
                    <a:pt x="0" y="3017520"/>
                  </a:lnTo>
                  <a:close/>
                </a:path>
              </a:pathLst>
            </a:custGeom>
            <a:solidFill>
              <a:srgbClr val="F4BE23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668780" y="5855970"/>
            <a:ext cx="4215441" cy="458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60"/>
              </a:lnSpc>
            </a:pPr>
            <a:r>
              <a:rPr lang="en-US" sz="2550" b="true">
                <a:solidFill>
                  <a:srgbClr val="122D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Checklist sebelum membayar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68780" y="6569202"/>
            <a:ext cx="9918925" cy="366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✓ Nominal benar   ✓ Periode benar   ✓ Kanal resmi   ✓ Nama/identitas benar   ✓ Bukti tersimpan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78992" y="9792462"/>
            <a:ext cx="4237082" cy="25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39"/>
              </a:lnSpc>
            </a:pPr>
            <a:r>
              <a:rPr lang="en-US" sz="1200">
                <a:solidFill>
                  <a:srgbClr val="6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Politeknik Semen Indonesia • Orientasi Keuangan Mahasiswa Baru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922840" y="9498712"/>
            <a:ext cx="2186854" cy="3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51560" y="643890"/>
            <a:ext cx="6889252" cy="68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60"/>
              </a:lnSpc>
            </a:pPr>
            <a:r>
              <a:rPr lang="en-US" sz="4050" b="true">
                <a:solidFill>
                  <a:srgbClr val="122D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Cara Mengatur Uang Bulanan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8992" y="1507998"/>
            <a:ext cx="3890829" cy="34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60"/>
              </a:lnSpc>
            </a:pPr>
            <a:r>
              <a:rPr lang="en-US" sz="1800">
                <a:solidFill>
                  <a:srgbClr val="6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Sederhana dulu—yang penting konsisten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90136" y="2187416"/>
            <a:ext cx="4952047" cy="3306128"/>
            <a:chOff x="0" y="0"/>
            <a:chExt cx="6602730" cy="44081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602730" cy="4408170"/>
            </a:xfrm>
            <a:custGeom>
              <a:avLst/>
              <a:gdLst/>
              <a:ahLst/>
              <a:cxnLst/>
              <a:rect r="r" b="b" t="t" l="l"/>
              <a:pathLst>
                <a:path h="4408170" w="6602730">
                  <a:moveTo>
                    <a:pt x="0" y="734695"/>
                  </a:moveTo>
                  <a:cubicBezTo>
                    <a:pt x="0" y="328930"/>
                    <a:pt x="328930" y="0"/>
                    <a:pt x="734695" y="0"/>
                  </a:cubicBezTo>
                  <a:lnTo>
                    <a:pt x="5868035" y="0"/>
                  </a:lnTo>
                  <a:cubicBezTo>
                    <a:pt x="6273800" y="0"/>
                    <a:pt x="6602730" y="328930"/>
                    <a:pt x="6602730" y="734695"/>
                  </a:cubicBezTo>
                  <a:lnTo>
                    <a:pt x="6602730" y="3673475"/>
                  </a:lnTo>
                  <a:cubicBezTo>
                    <a:pt x="6602730" y="4079240"/>
                    <a:pt x="6273800" y="4408170"/>
                    <a:pt x="5868035" y="4408170"/>
                  </a:cubicBezTo>
                  <a:lnTo>
                    <a:pt x="734695" y="4408170"/>
                  </a:lnTo>
                  <a:cubicBezTo>
                    <a:pt x="328930" y="4408170"/>
                    <a:pt x="0" y="4079240"/>
                    <a:pt x="0" y="3673475"/>
                  </a:cubicBezTo>
                  <a:close/>
                </a:path>
              </a:pathLst>
            </a:custGeom>
            <a:solidFill>
              <a:srgbClr val="F2F5F8"/>
            </a:solidFill>
            <a:ln w="14288" cap="sq">
              <a:solidFill>
                <a:srgbClr val="DCE1E7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097280" y="2194560"/>
            <a:ext cx="109728" cy="3291840"/>
            <a:chOff x="0" y="0"/>
            <a:chExt cx="146304" cy="43891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304" cy="4389120"/>
            </a:xfrm>
            <a:custGeom>
              <a:avLst/>
              <a:gdLst/>
              <a:ahLst/>
              <a:cxnLst/>
              <a:rect r="r" b="b" t="t" l="l"/>
              <a:pathLst>
                <a:path h="43891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4BE23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31620" y="2495550"/>
            <a:ext cx="2868920" cy="458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60"/>
              </a:lnSpc>
            </a:pPr>
            <a:r>
              <a:rPr lang="en-US" sz="2550" b="true">
                <a:solidFill>
                  <a:srgbClr val="122D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Kebutuhan wajib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31620" y="3208782"/>
            <a:ext cx="3886657" cy="156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Makan</a:t>
            </a:r>
          </a:p>
          <a:p>
            <a:pPr algn="just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Transportasi</a:t>
            </a:r>
          </a:p>
          <a:p>
            <a:pPr algn="just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Ttempat tinggal</a:t>
            </a:r>
          </a:p>
          <a:p>
            <a:pPr algn="just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Kuota </a:t>
            </a:r>
          </a:p>
          <a:p>
            <a:pPr algn="just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Kebutuhan akademik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645116" y="2187416"/>
            <a:ext cx="4952047" cy="3306128"/>
            <a:chOff x="0" y="0"/>
            <a:chExt cx="6602730" cy="44081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02730" cy="4408170"/>
            </a:xfrm>
            <a:custGeom>
              <a:avLst/>
              <a:gdLst/>
              <a:ahLst/>
              <a:cxnLst/>
              <a:rect r="r" b="b" t="t" l="l"/>
              <a:pathLst>
                <a:path h="4408170" w="6602730">
                  <a:moveTo>
                    <a:pt x="0" y="734695"/>
                  </a:moveTo>
                  <a:cubicBezTo>
                    <a:pt x="0" y="328930"/>
                    <a:pt x="328930" y="0"/>
                    <a:pt x="734695" y="0"/>
                  </a:cubicBezTo>
                  <a:lnTo>
                    <a:pt x="5868035" y="0"/>
                  </a:lnTo>
                  <a:cubicBezTo>
                    <a:pt x="6273800" y="0"/>
                    <a:pt x="6602730" y="328930"/>
                    <a:pt x="6602730" y="734695"/>
                  </a:cubicBezTo>
                  <a:lnTo>
                    <a:pt x="6602730" y="3673475"/>
                  </a:lnTo>
                  <a:cubicBezTo>
                    <a:pt x="6602730" y="4079240"/>
                    <a:pt x="6273800" y="4408170"/>
                    <a:pt x="5868035" y="4408170"/>
                  </a:cubicBezTo>
                  <a:lnTo>
                    <a:pt x="734695" y="4408170"/>
                  </a:lnTo>
                  <a:cubicBezTo>
                    <a:pt x="328930" y="4408170"/>
                    <a:pt x="0" y="4079240"/>
                    <a:pt x="0" y="3673475"/>
                  </a:cubicBezTo>
                  <a:close/>
                </a:path>
              </a:pathLst>
            </a:custGeom>
            <a:solidFill>
              <a:srgbClr val="F2F5F8"/>
            </a:solidFill>
            <a:ln w="14288" cap="sq">
              <a:solidFill>
                <a:srgbClr val="DCE1E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6652260" y="2194560"/>
            <a:ext cx="109728" cy="3291840"/>
            <a:chOff x="0" y="0"/>
            <a:chExt cx="146304" cy="4389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" cy="4389120"/>
            </a:xfrm>
            <a:custGeom>
              <a:avLst/>
              <a:gdLst/>
              <a:ahLst/>
              <a:cxnLst/>
              <a:rect r="r" b="b" t="t" l="l"/>
              <a:pathLst>
                <a:path h="43891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2D875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086600" y="2495550"/>
            <a:ext cx="3251235" cy="458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60"/>
              </a:lnSpc>
            </a:pPr>
            <a:r>
              <a:rPr lang="en-US" sz="2550" b="true">
                <a:solidFill>
                  <a:srgbClr val="122D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Kebutuhan fleksibel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86600" y="3208782"/>
            <a:ext cx="3886657" cy="1266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Nongkrong</a:t>
            </a:r>
          </a:p>
          <a:p>
            <a:pPr algn="just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Hiburan</a:t>
            </a:r>
          </a:p>
          <a:p>
            <a:pPr algn="just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Belanja tambahan</a:t>
            </a:r>
          </a:p>
          <a:p>
            <a:pPr algn="just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Langganan digital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200096" y="2187416"/>
            <a:ext cx="4952047" cy="3306128"/>
            <a:chOff x="0" y="0"/>
            <a:chExt cx="6602730" cy="44081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02730" cy="4408170"/>
            </a:xfrm>
            <a:custGeom>
              <a:avLst/>
              <a:gdLst/>
              <a:ahLst/>
              <a:cxnLst/>
              <a:rect r="r" b="b" t="t" l="l"/>
              <a:pathLst>
                <a:path h="4408170" w="6602730">
                  <a:moveTo>
                    <a:pt x="0" y="734695"/>
                  </a:moveTo>
                  <a:cubicBezTo>
                    <a:pt x="0" y="328930"/>
                    <a:pt x="328930" y="0"/>
                    <a:pt x="734695" y="0"/>
                  </a:cubicBezTo>
                  <a:lnTo>
                    <a:pt x="5868035" y="0"/>
                  </a:lnTo>
                  <a:cubicBezTo>
                    <a:pt x="6273800" y="0"/>
                    <a:pt x="6602730" y="328930"/>
                    <a:pt x="6602730" y="734695"/>
                  </a:cubicBezTo>
                  <a:lnTo>
                    <a:pt x="6602730" y="3673475"/>
                  </a:lnTo>
                  <a:cubicBezTo>
                    <a:pt x="6602730" y="4079240"/>
                    <a:pt x="6273800" y="4408170"/>
                    <a:pt x="5868035" y="4408170"/>
                  </a:cubicBezTo>
                  <a:lnTo>
                    <a:pt x="734695" y="4408170"/>
                  </a:lnTo>
                  <a:cubicBezTo>
                    <a:pt x="328930" y="4408170"/>
                    <a:pt x="0" y="4079240"/>
                    <a:pt x="0" y="3673475"/>
                  </a:cubicBezTo>
                  <a:close/>
                </a:path>
              </a:pathLst>
            </a:custGeom>
            <a:solidFill>
              <a:srgbClr val="F2F5F8"/>
            </a:solidFill>
            <a:ln w="14288" cap="sq">
              <a:solidFill>
                <a:srgbClr val="DCE1E7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207240" y="2194560"/>
            <a:ext cx="109728" cy="3291840"/>
            <a:chOff x="0" y="0"/>
            <a:chExt cx="146304" cy="43891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" cy="4389120"/>
            </a:xfrm>
            <a:custGeom>
              <a:avLst/>
              <a:gdLst/>
              <a:ahLst/>
              <a:cxnLst/>
              <a:rect r="r" b="b" t="t" l="l"/>
              <a:pathLst>
                <a:path h="438912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F4BE2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641580" y="2495550"/>
            <a:ext cx="1842192" cy="458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60"/>
              </a:lnSpc>
            </a:pPr>
            <a:r>
              <a:rPr lang="en-US" sz="2550" b="true">
                <a:solidFill>
                  <a:srgbClr val="122D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Simpanan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41580" y="3208782"/>
            <a:ext cx="4185580" cy="966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Dana darurat</a:t>
            </a:r>
          </a:p>
          <a:p>
            <a:pPr algn="just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Tabungan tujuan</a:t>
            </a:r>
          </a:p>
          <a:p>
            <a:pPr algn="just" marL="352901" indent="-176451" lvl="1">
              <a:lnSpc>
                <a:spcPts val="2340"/>
              </a:lnSpc>
              <a:buFont typeface="Arial"/>
              <a:buChar char="•"/>
            </a:pPr>
            <a:r>
              <a:rPr lang="en-US" sz="19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Kebutuhan semester berikutnya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833336" y="6096476"/>
            <a:ext cx="10575607" cy="2003108"/>
            <a:chOff x="0" y="0"/>
            <a:chExt cx="14100810" cy="267081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100809" cy="2670810"/>
            </a:xfrm>
            <a:custGeom>
              <a:avLst/>
              <a:gdLst/>
              <a:ahLst/>
              <a:cxnLst/>
              <a:rect r="r" b="b" t="t" l="l"/>
              <a:pathLst>
                <a:path h="2670810" w="14100809">
                  <a:moveTo>
                    <a:pt x="0" y="445135"/>
                  </a:moveTo>
                  <a:cubicBezTo>
                    <a:pt x="0" y="199263"/>
                    <a:pt x="199263" y="0"/>
                    <a:pt x="445135" y="0"/>
                  </a:cubicBezTo>
                  <a:lnTo>
                    <a:pt x="13655675" y="0"/>
                  </a:lnTo>
                  <a:cubicBezTo>
                    <a:pt x="13901547" y="0"/>
                    <a:pt x="14100809" y="199263"/>
                    <a:pt x="14100809" y="445135"/>
                  </a:cubicBezTo>
                  <a:lnTo>
                    <a:pt x="14100809" y="2225675"/>
                  </a:lnTo>
                  <a:cubicBezTo>
                    <a:pt x="14100809" y="2471547"/>
                    <a:pt x="13901547" y="2670810"/>
                    <a:pt x="13655675" y="2670810"/>
                  </a:cubicBezTo>
                  <a:lnTo>
                    <a:pt x="445135" y="2670810"/>
                  </a:lnTo>
                  <a:cubicBezTo>
                    <a:pt x="199263" y="2670810"/>
                    <a:pt x="0" y="2471547"/>
                    <a:pt x="0" y="2225675"/>
                  </a:cubicBezTo>
                  <a:close/>
                </a:path>
              </a:pathLst>
            </a:custGeom>
            <a:solidFill>
              <a:srgbClr val="F2F5F8"/>
            </a:solidFill>
            <a:ln w="14288" cap="sq">
              <a:solidFill>
                <a:srgbClr val="DCE1E7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3840480" y="6103620"/>
            <a:ext cx="109728" cy="1988820"/>
            <a:chOff x="0" y="0"/>
            <a:chExt cx="146304" cy="26517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6304" cy="2651760"/>
            </a:xfrm>
            <a:custGeom>
              <a:avLst/>
              <a:gdLst/>
              <a:ahLst/>
              <a:cxnLst/>
              <a:rect r="r" b="b" t="t" l="l"/>
              <a:pathLst>
                <a:path h="2651760" w="146304">
                  <a:moveTo>
                    <a:pt x="0" y="0"/>
                  </a:moveTo>
                  <a:lnTo>
                    <a:pt x="146304" y="0"/>
                  </a:lnTo>
                  <a:lnTo>
                    <a:pt x="146304" y="2651760"/>
                  </a:lnTo>
                  <a:lnTo>
                    <a:pt x="0" y="2651760"/>
                  </a:lnTo>
                  <a:close/>
                </a:path>
              </a:pathLst>
            </a:custGeom>
            <a:solidFill>
              <a:srgbClr val="2D875F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4274820" y="6404610"/>
            <a:ext cx="2392823" cy="458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60"/>
              </a:lnSpc>
            </a:pPr>
            <a:r>
              <a:rPr lang="en-US" sz="2550" b="true">
                <a:solidFill>
                  <a:srgbClr val="122D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Formula praktis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274820" y="7117842"/>
            <a:ext cx="7132101" cy="366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Pendapatan/uang saku − kebutuhan wajib − simpanan = dana fleksibel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78992" y="9792462"/>
            <a:ext cx="4237082" cy="25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439"/>
              </a:lnSpc>
            </a:pPr>
            <a:r>
              <a:rPr lang="en-US" sz="1200">
                <a:solidFill>
                  <a:srgbClr val="6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Politeknik Semen Indonesia • Orientasi Keuangan Mahasiswa Baru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922840" y="9498712"/>
            <a:ext cx="2186854" cy="3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51560" y="643890"/>
            <a:ext cx="6701695" cy="68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22D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Contoh Anggaran Mahasiswa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8992" y="1507998"/>
            <a:ext cx="5631694" cy="34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Contoh ilustrasi—sesuaikan dengan kondisi masing-masing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736056" y="2255996"/>
            <a:ext cx="12770168" cy="905827"/>
            <a:chOff x="0" y="0"/>
            <a:chExt cx="17026890" cy="12077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026889" cy="1207770"/>
            </a:xfrm>
            <a:custGeom>
              <a:avLst/>
              <a:gdLst/>
              <a:ahLst/>
              <a:cxnLst/>
              <a:rect r="r" b="b" t="t" l="l"/>
              <a:pathLst>
                <a:path h="1207770" w="17026889">
                  <a:moveTo>
                    <a:pt x="0" y="201295"/>
                  </a:moveTo>
                  <a:cubicBezTo>
                    <a:pt x="0" y="90170"/>
                    <a:pt x="90170" y="0"/>
                    <a:pt x="201295" y="0"/>
                  </a:cubicBezTo>
                  <a:lnTo>
                    <a:pt x="16825595" y="0"/>
                  </a:lnTo>
                  <a:cubicBezTo>
                    <a:pt x="16936720" y="0"/>
                    <a:pt x="17026889" y="90170"/>
                    <a:pt x="17026889" y="201295"/>
                  </a:cubicBezTo>
                  <a:lnTo>
                    <a:pt x="17026889" y="1006475"/>
                  </a:lnTo>
                  <a:cubicBezTo>
                    <a:pt x="17026889" y="1117600"/>
                    <a:pt x="16936720" y="1207770"/>
                    <a:pt x="16825595" y="1207770"/>
                  </a:cubicBezTo>
                  <a:lnTo>
                    <a:pt x="201295" y="1207770"/>
                  </a:lnTo>
                  <a:cubicBezTo>
                    <a:pt x="90170" y="1207770"/>
                    <a:pt x="0" y="1117600"/>
                    <a:pt x="0" y="1006475"/>
                  </a:cubicBezTo>
                  <a:close/>
                </a:path>
              </a:pathLst>
            </a:custGeom>
            <a:solidFill>
              <a:srgbClr val="F2F5F8"/>
            </a:solidFill>
            <a:ln w="14288" cap="sq">
              <a:solidFill>
                <a:srgbClr val="DCE1E7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3246120" y="2463927"/>
            <a:ext cx="1813341" cy="42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Uang bulanan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141843" y="2463927"/>
            <a:ext cx="1717157" cy="42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400" b="true">
                <a:solidFill>
                  <a:srgbClr val="122D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Rp2.000.000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736056" y="3421856"/>
            <a:ext cx="12770168" cy="905827"/>
            <a:chOff x="0" y="0"/>
            <a:chExt cx="17026890" cy="12077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26889" cy="1207770"/>
            </a:xfrm>
            <a:custGeom>
              <a:avLst/>
              <a:gdLst/>
              <a:ahLst/>
              <a:cxnLst/>
              <a:rect r="r" b="b" t="t" l="l"/>
              <a:pathLst>
                <a:path h="1207770" w="17026889">
                  <a:moveTo>
                    <a:pt x="0" y="201295"/>
                  </a:moveTo>
                  <a:cubicBezTo>
                    <a:pt x="0" y="90170"/>
                    <a:pt x="90170" y="0"/>
                    <a:pt x="201295" y="0"/>
                  </a:cubicBezTo>
                  <a:lnTo>
                    <a:pt x="16825595" y="0"/>
                  </a:lnTo>
                  <a:cubicBezTo>
                    <a:pt x="16936720" y="0"/>
                    <a:pt x="17026889" y="90170"/>
                    <a:pt x="17026889" y="201295"/>
                  </a:cubicBezTo>
                  <a:lnTo>
                    <a:pt x="17026889" y="1006475"/>
                  </a:lnTo>
                  <a:cubicBezTo>
                    <a:pt x="17026889" y="1117600"/>
                    <a:pt x="16936720" y="1207770"/>
                    <a:pt x="16825595" y="1207770"/>
                  </a:cubicBezTo>
                  <a:lnTo>
                    <a:pt x="201295" y="1207770"/>
                  </a:lnTo>
                  <a:cubicBezTo>
                    <a:pt x="90170" y="1207770"/>
                    <a:pt x="0" y="1117600"/>
                    <a:pt x="0" y="10064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1E7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3246120" y="3629787"/>
            <a:ext cx="2207676" cy="42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Kebutuhan wajib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41843" y="3629787"/>
            <a:ext cx="1717157" cy="42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400" b="true">
                <a:solidFill>
                  <a:srgbClr val="122D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Rp1.200.000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736056" y="4587716"/>
            <a:ext cx="12770168" cy="905827"/>
            <a:chOff x="0" y="0"/>
            <a:chExt cx="17026890" cy="12077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026889" cy="1207770"/>
            </a:xfrm>
            <a:custGeom>
              <a:avLst/>
              <a:gdLst/>
              <a:ahLst/>
              <a:cxnLst/>
              <a:rect r="r" b="b" t="t" l="l"/>
              <a:pathLst>
                <a:path h="1207770" w="17026889">
                  <a:moveTo>
                    <a:pt x="0" y="201295"/>
                  </a:moveTo>
                  <a:cubicBezTo>
                    <a:pt x="0" y="90170"/>
                    <a:pt x="90170" y="0"/>
                    <a:pt x="201295" y="0"/>
                  </a:cubicBezTo>
                  <a:lnTo>
                    <a:pt x="16825595" y="0"/>
                  </a:lnTo>
                  <a:cubicBezTo>
                    <a:pt x="16936720" y="0"/>
                    <a:pt x="17026889" y="90170"/>
                    <a:pt x="17026889" y="201295"/>
                  </a:cubicBezTo>
                  <a:lnTo>
                    <a:pt x="17026889" y="1006475"/>
                  </a:lnTo>
                  <a:cubicBezTo>
                    <a:pt x="17026889" y="1117600"/>
                    <a:pt x="16936720" y="1207770"/>
                    <a:pt x="16825595" y="1207770"/>
                  </a:cubicBezTo>
                  <a:lnTo>
                    <a:pt x="201295" y="1207770"/>
                  </a:lnTo>
                  <a:cubicBezTo>
                    <a:pt x="90170" y="1207770"/>
                    <a:pt x="0" y="1117600"/>
                    <a:pt x="0" y="1006475"/>
                  </a:cubicBezTo>
                  <a:close/>
                </a:path>
              </a:pathLst>
            </a:custGeom>
            <a:solidFill>
              <a:srgbClr val="F2F5F8"/>
            </a:solidFill>
            <a:ln w="14288" cap="sq">
              <a:solidFill>
                <a:srgbClr val="DCE1E7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3246120" y="4795647"/>
            <a:ext cx="2948264" cy="42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Simpanan/dana darurat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372671" y="4795647"/>
            <a:ext cx="1486329" cy="42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400" b="true">
                <a:solidFill>
                  <a:srgbClr val="122D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Rp300.000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736056" y="5753576"/>
            <a:ext cx="12770168" cy="905827"/>
            <a:chOff x="0" y="0"/>
            <a:chExt cx="17026890" cy="12077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7026889" cy="1207770"/>
            </a:xfrm>
            <a:custGeom>
              <a:avLst/>
              <a:gdLst/>
              <a:ahLst/>
              <a:cxnLst/>
              <a:rect r="r" b="b" t="t" l="l"/>
              <a:pathLst>
                <a:path h="1207770" w="17026889">
                  <a:moveTo>
                    <a:pt x="0" y="201295"/>
                  </a:moveTo>
                  <a:cubicBezTo>
                    <a:pt x="0" y="90170"/>
                    <a:pt x="90170" y="0"/>
                    <a:pt x="201295" y="0"/>
                  </a:cubicBezTo>
                  <a:lnTo>
                    <a:pt x="16825595" y="0"/>
                  </a:lnTo>
                  <a:cubicBezTo>
                    <a:pt x="16936720" y="0"/>
                    <a:pt x="17026889" y="90170"/>
                    <a:pt x="17026889" y="201295"/>
                  </a:cubicBezTo>
                  <a:lnTo>
                    <a:pt x="17026889" y="1006475"/>
                  </a:lnTo>
                  <a:cubicBezTo>
                    <a:pt x="17026889" y="1117600"/>
                    <a:pt x="16936720" y="1207770"/>
                    <a:pt x="16825595" y="1207770"/>
                  </a:cubicBezTo>
                  <a:lnTo>
                    <a:pt x="201295" y="1207770"/>
                  </a:lnTo>
                  <a:cubicBezTo>
                    <a:pt x="90170" y="1207770"/>
                    <a:pt x="0" y="1117600"/>
                    <a:pt x="0" y="100647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CE1E7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3246120" y="5961507"/>
            <a:ext cx="1885474" cy="42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830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Dana fleksibel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372671" y="5961507"/>
            <a:ext cx="1486329" cy="42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79"/>
              </a:lnSpc>
            </a:pPr>
            <a:r>
              <a:rPr lang="en-US" sz="2400" b="true">
                <a:solidFill>
                  <a:srgbClr val="122D4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Rp500.000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834640" y="7374255"/>
            <a:ext cx="11058658" cy="42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2D875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Tips: catat pengeluaran selama 30 hari untuk mengetahui pola belanja sebenarnya.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78992" y="9792462"/>
            <a:ext cx="4237082" cy="25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Politeknik Semen Indonesia • Orientasi Keuangan Mahasiswa Baru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922840" y="9498712"/>
            <a:ext cx="2186854" cy="3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326584" y="803567"/>
            <a:ext cx="9210284" cy="8769925"/>
            <a:chOff x="0" y="0"/>
            <a:chExt cx="12280379" cy="11693233"/>
          </a:xfrm>
        </p:grpSpPr>
        <p:sp>
          <p:nvSpPr>
            <p:cNvPr name="Freeform 4" id="4" descr="Imagen que contiene interior, mesa, suelo, pared  Descripción generada automáticamente"/>
            <p:cNvSpPr/>
            <p:nvPr/>
          </p:nvSpPr>
          <p:spPr>
            <a:xfrm flipH="false" flipV="false" rot="0">
              <a:off x="0" y="0"/>
              <a:ext cx="12280392" cy="11693271"/>
            </a:xfrm>
            <a:custGeom>
              <a:avLst/>
              <a:gdLst/>
              <a:ahLst/>
              <a:cxnLst/>
              <a:rect r="r" b="b" t="t" l="l"/>
              <a:pathLst>
                <a:path h="11693271" w="12280392">
                  <a:moveTo>
                    <a:pt x="0" y="0"/>
                  </a:moveTo>
                  <a:lnTo>
                    <a:pt x="12280392" y="0"/>
                  </a:lnTo>
                  <a:lnTo>
                    <a:pt x="12280392" y="11693271"/>
                  </a:lnTo>
                  <a:lnTo>
                    <a:pt x="0" y="11693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4607" t="0" r="-14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326584" y="803567"/>
            <a:ext cx="9210284" cy="8769925"/>
            <a:chOff x="0" y="0"/>
            <a:chExt cx="12280379" cy="116932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80392" cy="11693271"/>
            </a:xfrm>
            <a:custGeom>
              <a:avLst/>
              <a:gdLst/>
              <a:ahLst/>
              <a:cxnLst/>
              <a:rect r="r" b="b" t="t" l="l"/>
              <a:pathLst>
                <a:path h="11693271" w="12280392">
                  <a:moveTo>
                    <a:pt x="0" y="0"/>
                  </a:moveTo>
                  <a:lnTo>
                    <a:pt x="12280392" y="0"/>
                  </a:lnTo>
                  <a:lnTo>
                    <a:pt x="12280392" y="11693271"/>
                  </a:lnTo>
                  <a:lnTo>
                    <a:pt x="0" y="11693271"/>
                  </a:lnTo>
                  <a:close/>
                </a:path>
              </a:pathLst>
            </a:custGeom>
            <a:solidFill>
              <a:srgbClr val="266F8B">
                <a:alpha val="23922"/>
              </a:srgbClr>
            </a:solidFill>
          </p:spPr>
        </p:sp>
      </p:grpSp>
      <p:sp>
        <p:nvSpPr>
          <p:cNvPr name="TextBox 7" id="7"/>
          <p:cNvSpPr txBox="true"/>
          <p:nvPr/>
        </p:nvSpPr>
        <p:spPr>
          <a:xfrm rot="5400000">
            <a:off x="-922840" y="9498712"/>
            <a:ext cx="2186854" cy="3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56C8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5163" y="468487"/>
            <a:ext cx="7248773" cy="1448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b="true" sz="7500" i="true">
                <a:solidFill>
                  <a:srgbClr val="000000"/>
                </a:solidFill>
                <a:latin typeface="Centaur Bold Italics"/>
                <a:ea typeface="Centaur Bold Italics"/>
                <a:cs typeface="Centaur Bold Italics"/>
                <a:sym typeface="Centaur Bold Italics"/>
              </a:rPr>
              <a:t>Prosedur Keuangan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7118" y="4161425"/>
            <a:ext cx="7456818" cy="247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4388" indent="-407194" lvl="1">
              <a:lnSpc>
                <a:spcPts val="540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Proposal / Rencana Kerja</a:t>
            </a:r>
          </a:p>
          <a:p>
            <a:pPr algn="l" marL="814388" indent="-407194" lvl="1">
              <a:lnSpc>
                <a:spcPts val="540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Korespodensi Intern</a:t>
            </a:r>
          </a:p>
          <a:p>
            <a:pPr algn="l" marL="814388" indent="-407194" lvl="1">
              <a:lnSpc>
                <a:spcPts val="5400"/>
              </a:lnSpc>
              <a:buFont typeface="Arial"/>
              <a:buChar char="•"/>
            </a:pPr>
            <a:r>
              <a:rPr lang="en-US" sz="4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 Pembayaran Langsung</a:t>
            </a:r>
          </a:p>
          <a:p>
            <a:pPr algn="l" marL="814388" indent="-407194" lvl="1">
              <a:lnSpc>
                <a:spcPts val="5400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8598313"/>
            <a:ext cx="265471" cy="1578073"/>
            <a:chOff x="0" y="0"/>
            <a:chExt cx="353962" cy="210409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3949" cy="2104136"/>
            </a:xfrm>
            <a:custGeom>
              <a:avLst/>
              <a:gdLst/>
              <a:ahLst/>
              <a:cxnLst/>
              <a:rect r="r" b="b" t="t" l="l"/>
              <a:pathLst>
                <a:path h="2104136" w="353949">
                  <a:moveTo>
                    <a:pt x="0" y="0"/>
                  </a:moveTo>
                  <a:lnTo>
                    <a:pt x="353949" y="0"/>
                  </a:lnTo>
                  <a:lnTo>
                    <a:pt x="353949" y="2104136"/>
                  </a:lnTo>
                  <a:lnTo>
                    <a:pt x="0" y="21041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35485" y="2131362"/>
            <a:ext cx="4303728" cy="1008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Pengajuan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78992" y="9792462"/>
            <a:ext cx="4237082" cy="25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Politeknik Semen Indonesia • Orientasi Keuangan Mahasiswa Baru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922840" y="9498712"/>
            <a:ext cx="2186854" cy="3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8326584" y="803567"/>
            <a:ext cx="9210284" cy="8769925"/>
            <a:chOff x="0" y="0"/>
            <a:chExt cx="12280379" cy="11693233"/>
          </a:xfrm>
        </p:grpSpPr>
        <p:sp>
          <p:nvSpPr>
            <p:cNvPr name="Freeform 4" id="4" descr="Imagen que contiene interior, mesa, suelo, pared  Descripción generada automáticamente"/>
            <p:cNvSpPr/>
            <p:nvPr/>
          </p:nvSpPr>
          <p:spPr>
            <a:xfrm flipH="false" flipV="false" rot="0">
              <a:off x="0" y="0"/>
              <a:ext cx="12280392" cy="11693271"/>
            </a:xfrm>
            <a:custGeom>
              <a:avLst/>
              <a:gdLst/>
              <a:ahLst/>
              <a:cxnLst/>
              <a:rect r="r" b="b" t="t" l="l"/>
              <a:pathLst>
                <a:path h="11693271" w="12280392">
                  <a:moveTo>
                    <a:pt x="0" y="0"/>
                  </a:moveTo>
                  <a:lnTo>
                    <a:pt x="12280392" y="0"/>
                  </a:lnTo>
                  <a:lnTo>
                    <a:pt x="12280392" y="11693271"/>
                  </a:lnTo>
                  <a:lnTo>
                    <a:pt x="0" y="11693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4607" t="0" r="-14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326584" y="803567"/>
            <a:ext cx="9210284" cy="8769925"/>
            <a:chOff x="0" y="0"/>
            <a:chExt cx="12280379" cy="116932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280392" cy="11693271"/>
            </a:xfrm>
            <a:custGeom>
              <a:avLst/>
              <a:gdLst/>
              <a:ahLst/>
              <a:cxnLst/>
              <a:rect r="r" b="b" t="t" l="l"/>
              <a:pathLst>
                <a:path h="11693271" w="12280392">
                  <a:moveTo>
                    <a:pt x="0" y="0"/>
                  </a:moveTo>
                  <a:lnTo>
                    <a:pt x="12280392" y="0"/>
                  </a:lnTo>
                  <a:lnTo>
                    <a:pt x="12280392" y="11693271"/>
                  </a:lnTo>
                  <a:lnTo>
                    <a:pt x="0" y="11693271"/>
                  </a:lnTo>
                  <a:close/>
                </a:path>
              </a:pathLst>
            </a:custGeom>
            <a:solidFill>
              <a:srgbClr val="266F8B">
                <a:alpha val="23922"/>
              </a:srgbClr>
            </a:solidFill>
          </p:spPr>
        </p:sp>
      </p:grpSp>
      <p:sp>
        <p:nvSpPr>
          <p:cNvPr name="TextBox 7" id="7"/>
          <p:cNvSpPr txBox="true"/>
          <p:nvPr/>
        </p:nvSpPr>
        <p:spPr>
          <a:xfrm rot="5400000">
            <a:off x="-922840" y="9498712"/>
            <a:ext cx="2186854" cy="3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56C8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6902" y="4030094"/>
            <a:ext cx="8061493" cy="1883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8656" indent="-339328" lvl="1">
              <a:lnSpc>
                <a:spcPts val="4500"/>
              </a:lnSpc>
              <a:buFont typeface="Arial"/>
              <a:buChar char="•"/>
            </a:pPr>
            <a:r>
              <a:rPr lang="en-US" sz="3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 Form Pembayaran Langsung</a:t>
            </a:r>
          </a:p>
          <a:p>
            <a:pPr algn="l" marL="678656" indent="-339328" lvl="1">
              <a:lnSpc>
                <a:spcPts val="4500"/>
              </a:lnSpc>
              <a:buFont typeface="Arial"/>
              <a:buChar char="•"/>
            </a:pPr>
            <a:r>
              <a:rPr lang="en-US" sz="3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 Pertanggungjawaban Keuangan</a:t>
            </a:r>
          </a:p>
          <a:p>
            <a:pPr algn="l" marL="678656" indent="-339328" lvl="1">
              <a:lnSpc>
                <a:spcPts val="4500"/>
              </a:lnSpc>
              <a:buFont typeface="Arial"/>
              <a:buChar char="•"/>
            </a:pPr>
            <a:r>
              <a:rPr lang="en-US" sz="3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Bukti Transaksi</a:t>
            </a:r>
          </a:p>
          <a:p>
            <a:pPr algn="l" marL="678656" indent="-339328" lvl="1">
              <a:lnSpc>
                <a:spcPts val="450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0" y="8598313"/>
            <a:ext cx="265471" cy="1578073"/>
            <a:chOff x="0" y="0"/>
            <a:chExt cx="353962" cy="21040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3949" cy="2104136"/>
            </a:xfrm>
            <a:custGeom>
              <a:avLst/>
              <a:gdLst/>
              <a:ahLst/>
              <a:cxnLst/>
              <a:rect r="r" b="b" t="t" l="l"/>
              <a:pathLst>
                <a:path h="2104136" w="353949">
                  <a:moveTo>
                    <a:pt x="0" y="0"/>
                  </a:moveTo>
                  <a:lnTo>
                    <a:pt x="353949" y="0"/>
                  </a:lnTo>
                  <a:lnTo>
                    <a:pt x="353949" y="2104136"/>
                  </a:lnTo>
                  <a:lnTo>
                    <a:pt x="0" y="21041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486556" y="1541431"/>
            <a:ext cx="6648726" cy="1008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00B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Pertanggungjawaban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8992" y="9792462"/>
            <a:ext cx="4237082" cy="25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Politeknik Semen Indonesia • Orientasi Keuangan Mahasiswa Baru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922840" y="9498712"/>
            <a:ext cx="2186854" cy="3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9525" y="3797475"/>
            <a:ext cx="6499050" cy="6499050"/>
            <a:chOff x="0" y="0"/>
            <a:chExt cx="8665400" cy="8665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65337" cy="8665337"/>
            </a:xfrm>
            <a:custGeom>
              <a:avLst/>
              <a:gdLst/>
              <a:ahLst/>
              <a:cxnLst/>
              <a:rect r="r" b="b" t="t" l="l"/>
              <a:pathLst>
                <a:path h="8665337" w="8665337">
                  <a:moveTo>
                    <a:pt x="0" y="8665337"/>
                  </a:moveTo>
                  <a:lnTo>
                    <a:pt x="0" y="0"/>
                  </a:lnTo>
                  <a:lnTo>
                    <a:pt x="8665337" y="8665337"/>
                  </a:lnTo>
                  <a:close/>
                </a:path>
              </a:pathLst>
            </a:custGeom>
            <a:solidFill>
              <a:srgbClr val="266F8B"/>
            </a:solidFill>
            <a:ln w="19050" cap="sq">
              <a:solidFill>
                <a:srgbClr val="256C87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11798475" y="-9525"/>
            <a:ext cx="6499050" cy="6499050"/>
            <a:chOff x="0" y="0"/>
            <a:chExt cx="8665400" cy="8665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665337" cy="8665337"/>
            </a:xfrm>
            <a:custGeom>
              <a:avLst/>
              <a:gdLst/>
              <a:ahLst/>
              <a:cxnLst/>
              <a:rect r="r" b="b" t="t" l="l"/>
              <a:pathLst>
                <a:path h="8665337" w="8665337">
                  <a:moveTo>
                    <a:pt x="0" y="8665337"/>
                  </a:moveTo>
                  <a:lnTo>
                    <a:pt x="0" y="0"/>
                  </a:lnTo>
                  <a:lnTo>
                    <a:pt x="8665337" y="8665337"/>
                  </a:lnTo>
                  <a:close/>
                </a:path>
              </a:pathLst>
            </a:custGeom>
            <a:solidFill>
              <a:srgbClr val="266F8B"/>
            </a:solidFill>
            <a:ln w="19050" cap="sq">
              <a:solidFill>
                <a:srgbClr val="256C87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5400000">
            <a:off x="-922840" y="9498712"/>
            <a:ext cx="2186854" cy="3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397690" y="1745170"/>
            <a:ext cx="9247489" cy="948090"/>
            <a:chOff x="0" y="0"/>
            <a:chExt cx="12329986" cy="1264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330049" cy="1264158"/>
            </a:xfrm>
            <a:custGeom>
              <a:avLst/>
              <a:gdLst/>
              <a:ahLst/>
              <a:cxnLst/>
              <a:rect r="r" b="b" t="t" l="l"/>
              <a:pathLst>
                <a:path h="1264158" w="12330049">
                  <a:moveTo>
                    <a:pt x="0" y="0"/>
                  </a:moveTo>
                  <a:lnTo>
                    <a:pt x="12330049" y="0"/>
                  </a:lnTo>
                  <a:lnTo>
                    <a:pt x="12330049" y="1264158"/>
                  </a:lnTo>
                  <a:lnTo>
                    <a:pt x="0" y="126415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645045" y="1704423"/>
            <a:ext cx="8752770" cy="989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Laporan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0" y="8598313"/>
            <a:ext cx="294970" cy="1533830"/>
            <a:chOff x="0" y="0"/>
            <a:chExt cx="393294" cy="204510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93319" cy="2045081"/>
            </a:xfrm>
            <a:custGeom>
              <a:avLst/>
              <a:gdLst/>
              <a:ahLst/>
              <a:cxnLst/>
              <a:rect r="r" b="b" t="t" l="l"/>
              <a:pathLst>
                <a:path h="2045081" w="393319">
                  <a:moveTo>
                    <a:pt x="0" y="0"/>
                  </a:moveTo>
                  <a:lnTo>
                    <a:pt x="393319" y="0"/>
                  </a:lnTo>
                  <a:lnTo>
                    <a:pt x="393319" y="2045081"/>
                  </a:lnTo>
                  <a:lnTo>
                    <a:pt x="0" y="2045081"/>
                  </a:lnTo>
                  <a:close/>
                </a:path>
              </a:pathLst>
            </a:custGeom>
            <a:solidFill>
              <a:srgbClr val="276F8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562749" y="4442698"/>
            <a:ext cx="2726960" cy="1636176"/>
            <a:chOff x="0" y="0"/>
            <a:chExt cx="3635946" cy="218156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636010" cy="2181606"/>
            </a:xfrm>
            <a:custGeom>
              <a:avLst/>
              <a:gdLst/>
              <a:ahLst/>
              <a:cxnLst/>
              <a:rect r="r" b="b" t="t" l="l"/>
              <a:pathLst>
                <a:path h="2181606" w="3636010">
                  <a:moveTo>
                    <a:pt x="0" y="218186"/>
                  </a:moveTo>
                  <a:cubicBezTo>
                    <a:pt x="0" y="97663"/>
                    <a:pt x="97663" y="0"/>
                    <a:pt x="218186" y="0"/>
                  </a:cubicBezTo>
                  <a:lnTo>
                    <a:pt x="3417824" y="0"/>
                  </a:lnTo>
                  <a:cubicBezTo>
                    <a:pt x="3538347" y="0"/>
                    <a:pt x="3636010" y="97663"/>
                    <a:pt x="3636010" y="218186"/>
                  </a:cubicBezTo>
                  <a:lnTo>
                    <a:pt x="3636010" y="1963420"/>
                  </a:lnTo>
                  <a:cubicBezTo>
                    <a:pt x="3636010" y="2083943"/>
                    <a:pt x="3538347" y="2181606"/>
                    <a:pt x="3417824" y="2181606"/>
                  </a:cubicBezTo>
                  <a:lnTo>
                    <a:pt x="218186" y="2181606"/>
                  </a:lnTo>
                  <a:cubicBezTo>
                    <a:pt x="97663" y="2181606"/>
                    <a:pt x="0" y="2083943"/>
                    <a:pt x="0" y="1963420"/>
                  </a:cubicBezTo>
                  <a:close/>
                </a:path>
              </a:pathLst>
            </a:custGeom>
            <a:solidFill>
              <a:srgbClr val="92D05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603525" y="4483475"/>
            <a:ext cx="2645407" cy="1554623"/>
            <a:chOff x="0" y="0"/>
            <a:chExt cx="3527209" cy="20728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27210" cy="2072828"/>
            </a:xfrm>
            <a:custGeom>
              <a:avLst/>
              <a:gdLst/>
              <a:ahLst/>
              <a:cxnLst/>
              <a:rect r="r" b="b" t="t" l="l"/>
              <a:pathLst>
                <a:path h="2072828" w="3527210">
                  <a:moveTo>
                    <a:pt x="0" y="0"/>
                  </a:moveTo>
                  <a:lnTo>
                    <a:pt x="3527210" y="0"/>
                  </a:lnTo>
                  <a:lnTo>
                    <a:pt x="3527210" y="2072828"/>
                  </a:lnTo>
                  <a:lnTo>
                    <a:pt x="0" y="20728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399" t="0" r="-25399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3527209" cy="2053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88"/>
                </a:lnSpc>
              </a:pPr>
              <a:r>
                <a:rPr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Transaksi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562410" y="4922644"/>
            <a:ext cx="578110" cy="676285"/>
            <a:chOff x="0" y="0"/>
            <a:chExt cx="770814" cy="90171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70763" cy="901700"/>
            </a:xfrm>
            <a:custGeom>
              <a:avLst/>
              <a:gdLst/>
              <a:ahLst/>
              <a:cxnLst/>
              <a:rect r="r" b="b" t="t" l="l"/>
              <a:pathLst>
                <a:path h="901700" w="770763">
                  <a:moveTo>
                    <a:pt x="0" y="180340"/>
                  </a:moveTo>
                  <a:lnTo>
                    <a:pt x="385445" y="180340"/>
                  </a:lnTo>
                  <a:lnTo>
                    <a:pt x="385445" y="0"/>
                  </a:lnTo>
                  <a:lnTo>
                    <a:pt x="770763" y="450850"/>
                  </a:lnTo>
                  <a:lnTo>
                    <a:pt x="385445" y="901700"/>
                  </a:lnTo>
                  <a:lnTo>
                    <a:pt x="385445" y="721360"/>
                  </a:lnTo>
                  <a:lnTo>
                    <a:pt x="0" y="721360"/>
                  </a:lnTo>
                  <a:close/>
                </a:path>
              </a:pathLst>
            </a:custGeom>
            <a:solidFill>
              <a:srgbClr val="AEC8D9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380493" y="4442698"/>
            <a:ext cx="2726960" cy="1636176"/>
            <a:chOff x="0" y="0"/>
            <a:chExt cx="3635946" cy="21815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36010" cy="2181606"/>
            </a:xfrm>
            <a:custGeom>
              <a:avLst/>
              <a:gdLst/>
              <a:ahLst/>
              <a:cxnLst/>
              <a:rect r="r" b="b" t="t" l="l"/>
              <a:pathLst>
                <a:path h="2181606" w="3636010">
                  <a:moveTo>
                    <a:pt x="0" y="218186"/>
                  </a:moveTo>
                  <a:cubicBezTo>
                    <a:pt x="0" y="97663"/>
                    <a:pt x="97663" y="0"/>
                    <a:pt x="218186" y="0"/>
                  </a:cubicBezTo>
                  <a:lnTo>
                    <a:pt x="3417824" y="0"/>
                  </a:lnTo>
                  <a:cubicBezTo>
                    <a:pt x="3538347" y="0"/>
                    <a:pt x="3636010" y="97663"/>
                    <a:pt x="3636010" y="218186"/>
                  </a:cubicBezTo>
                  <a:lnTo>
                    <a:pt x="3636010" y="1963420"/>
                  </a:lnTo>
                  <a:cubicBezTo>
                    <a:pt x="3636010" y="2083943"/>
                    <a:pt x="3538347" y="2181606"/>
                    <a:pt x="3417824" y="2181606"/>
                  </a:cubicBezTo>
                  <a:lnTo>
                    <a:pt x="218186" y="2181606"/>
                  </a:lnTo>
                  <a:cubicBezTo>
                    <a:pt x="97663" y="2181606"/>
                    <a:pt x="0" y="2083943"/>
                    <a:pt x="0" y="1963420"/>
                  </a:cubicBezTo>
                  <a:close/>
                </a:path>
              </a:pathLst>
            </a:custGeom>
            <a:solidFill>
              <a:srgbClr val="00B05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21279" y="4483475"/>
            <a:ext cx="2645407" cy="1554623"/>
            <a:chOff x="0" y="0"/>
            <a:chExt cx="3527209" cy="207283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27210" cy="2072828"/>
            </a:xfrm>
            <a:custGeom>
              <a:avLst/>
              <a:gdLst/>
              <a:ahLst/>
              <a:cxnLst/>
              <a:rect r="r" b="b" t="t" l="l"/>
              <a:pathLst>
                <a:path h="2072828" w="3527210">
                  <a:moveTo>
                    <a:pt x="0" y="0"/>
                  </a:moveTo>
                  <a:lnTo>
                    <a:pt x="3527210" y="0"/>
                  </a:lnTo>
                  <a:lnTo>
                    <a:pt x="3527210" y="2072828"/>
                  </a:lnTo>
                  <a:lnTo>
                    <a:pt x="0" y="20728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399" t="0" r="-25399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3527209" cy="2053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88"/>
                </a:lnSpc>
              </a:pPr>
              <a:r>
                <a:rPr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Pencatatan</a:t>
              </a:r>
            </a:p>
            <a:p>
              <a:pPr algn="ctr">
                <a:lnSpc>
                  <a:spcPts val="3888"/>
                </a:lnSpc>
              </a:pPr>
              <a:r>
                <a:rPr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(Jurnal)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380153" y="4922644"/>
            <a:ext cx="578110" cy="676285"/>
            <a:chOff x="0" y="0"/>
            <a:chExt cx="770814" cy="90171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70763" cy="901700"/>
            </a:xfrm>
            <a:custGeom>
              <a:avLst/>
              <a:gdLst/>
              <a:ahLst/>
              <a:cxnLst/>
              <a:rect r="r" b="b" t="t" l="l"/>
              <a:pathLst>
                <a:path h="901700" w="770763">
                  <a:moveTo>
                    <a:pt x="0" y="180340"/>
                  </a:moveTo>
                  <a:lnTo>
                    <a:pt x="385445" y="180340"/>
                  </a:lnTo>
                  <a:lnTo>
                    <a:pt x="385445" y="0"/>
                  </a:lnTo>
                  <a:lnTo>
                    <a:pt x="770763" y="450850"/>
                  </a:lnTo>
                  <a:lnTo>
                    <a:pt x="385445" y="901700"/>
                  </a:lnTo>
                  <a:lnTo>
                    <a:pt x="385445" y="721360"/>
                  </a:lnTo>
                  <a:lnTo>
                    <a:pt x="0" y="721360"/>
                  </a:lnTo>
                  <a:close/>
                </a:path>
              </a:pathLst>
            </a:custGeom>
            <a:solidFill>
              <a:srgbClr val="AEC8D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198246" y="4442698"/>
            <a:ext cx="2726960" cy="1636176"/>
            <a:chOff x="0" y="0"/>
            <a:chExt cx="3635946" cy="218156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36010" cy="2181606"/>
            </a:xfrm>
            <a:custGeom>
              <a:avLst/>
              <a:gdLst/>
              <a:ahLst/>
              <a:cxnLst/>
              <a:rect r="r" b="b" t="t" l="l"/>
              <a:pathLst>
                <a:path h="2181606" w="3636010">
                  <a:moveTo>
                    <a:pt x="0" y="218186"/>
                  </a:moveTo>
                  <a:cubicBezTo>
                    <a:pt x="0" y="97663"/>
                    <a:pt x="97663" y="0"/>
                    <a:pt x="218186" y="0"/>
                  </a:cubicBezTo>
                  <a:lnTo>
                    <a:pt x="3417824" y="0"/>
                  </a:lnTo>
                  <a:cubicBezTo>
                    <a:pt x="3538347" y="0"/>
                    <a:pt x="3636010" y="97663"/>
                    <a:pt x="3636010" y="218186"/>
                  </a:cubicBezTo>
                  <a:lnTo>
                    <a:pt x="3636010" y="1963420"/>
                  </a:lnTo>
                  <a:cubicBezTo>
                    <a:pt x="3636010" y="2083943"/>
                    <a:pt x="3538347" y="2181606"/>
                    <a:pt x="3417824" y="2181606"/>
                  </a:cubicBezTo>
                  <a:lnTo>
                    <a:pt x="218186" y="2181606"/>
                  </a:lnTo>
                  <a:cubicBezTo>
                    <a:pt x="97663" y="2181606"/>
                    <a:pt x="0" y="2083943"/>
                    <a:pt x="0" y="1963420"/>
                  </a:cubicBezTo>
                  <a:close/>
                </a:path>
              </a:pathLst>
            </a:custGeom>
            <a:solidFill>
              <a:srgbClr val="3494BA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239023" y="4483475"/>
            <a:ext cx="2645407" cy="1554623"/>
            <a:chOff x="0" y="0"/>
            <a:chExt cx="3527209" cy="207283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527210" cy="2072828"/>
            </a:xfrm>
            <a:custGeom>
              <a:avLst/>
              <a:gdLst/>
              <a:ahLst/>
              <a:cxnLst/>
              <a:rect r="r" b="b" t="t" l="l"/>
              <a:pathLst>
                <a:path h="2072828" w="3527210">
                  <a:moveTo>
                    <a:pt x="0" y="0"/>
                  </a:moveTo>
                  <a:lnTo>
                    <a:pt x="3527210" y="0"/>
                  </a:lnTo>
                  <a:lnTo>
                    <a:pt x="3527210" y="2072828"/>
                  </a:lnTo>
                  <a:lnTo>
                    <a:pt x="0" y="20728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399" t="0" r="-25399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3527209" cy="2053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88"/>
                </a:lnSpc>
              </a:pPr>
              <a:r>
                <a:rPr lang="en-US" sz="36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Laporan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78992" y="9792462"/>
            <a:ext cx="4237082" cy="25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Politeknik Semen Indonesia • Orientasi Keuangan Mahasiswa Baru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922840" y="9498712"/>
            <a:ext cx="2186854" cy="3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5929751" cy="10287000"/>
            <a:chOff x="0" y="0"/>
            <a:chExt cx="7906334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90638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7906385">
                  <a:moveTo>
                    <a:pt x="0" y="0"/>
                  </a:moveTo>
                  <a:lnTo>
                    <a:pt x="7906385" y="0"/>
                  </a:lnTo>
                  <a:lnTo>
                    <a:pt x="7906385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66F8B"/>
            </a:solidFill>
          </p:spPr>
        </p:sp>
      </p:grpSp>
      <p:sp>
        <p:nvSpPr>
          <p:cNvPr name="TextBox 5" id="5"/>
          <p:cNvSpPr txBox="true"/>
          <p:nvPr/>
        </p:nvSpPr>
        <p:spPr>
          <a:xfrm rot="5400000">
            <a:off x="-922840" y="9498712"/>
            <a:ext cx="2186854" cy="3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12005" y="3114284"/>
            <a:ext cx="10657218" cy="620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Contoh :</a:t>
            </a:r>
          </a:p>
          <a:p>
            <a:pPr algn="l">
              <a:lnSpc>
                <a:spcPts val="5400"/>
              </a:lnSpc>
            </a:pPr>
          </a:p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Transaksi pada bulan Juli 2026:</a:t>
            </a:r>
          </a:p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01 Juli Diterima uang sebesar Rp 5.000.000,-</a:t>
            </a:r>
          </a:p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05 Juli Dibeli printer seharga Rp 500.000,-</a:t>
            </a:r>
          </a:p>
          <a:p>
            <a:pPr algn="l">
              <a:lnSpc>
                <a:spcPts val="5400"/>
              </a:lnSpc>
            </a:pPr>
          </a:p>
          <a:p>
            <a:pPr algn="l">
              <a:lnSpc>
                <a:spcPts val="5400"/>
              </a:lnSpc>
            </a:pPr>
          </a:p>
          <a:p>
            <a:pPr algn="l">
              <a:lnSpc>
                <a:spcPts val="5400"/>
              </a:lnSpc>
            </a:pPr>
          </a:p>
          <a:p>
            <a:pPr algn="l">
              <a:lnSpc>
                <a:spcPts val="540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0" y="8613057"/>
            <a:ext cx="280216" cy="1548584"/>
            <a:chOff x="0" y="0"/>
            <a:chExt cx="373621" cy="20647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73634" cy="2064766"/>
            </a:xfrm>
            <a:custGeom>
              <a:avLst/>
              <a:gdLst/>
              <a:ahLst/>
              <a:cxnLst/>
              <a:rect r="r" b="b" t="t" l="l"/>
              <a:pathLst>
                <a:path h="2064766" w="373634">
                  <a:moveTo>
                    <a:pt x="0" y="0"/>
                  </a:moveTo>
                  <a:lnTo>
                    <a:pt x="373634" y="0"/>
                  </a:lnTo>
                  <a:lnTo>
                    <a:pt x="373634" y="2064766"/>
                  </a:lnTo>
                  <a:lnTo>
                    <a:pt x="0" y="2064766"/>
                  </a:lnTo>
                  <a:close/>
                </a:path>
              </a:pathLst>
            </a:custGeom>
            <a:solidFill>
              <a:srgbClr val="276F8C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78992" y="9792462"/>
            <a:ext cx="4237082" cy="25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Politeknik Semen Indonesia • Orientasi Keuangan Mahasiswa Baru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922840" y="9498712"/>
            <a:ext cx="2186854" cy="3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43949" y="1314450"/>
            <a:ext cx="15585357" cy="7960443"/>
            <a:chOff x="0" y="0"/>
            <a:chExt cx="20780477" cy="106139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80502" cy="10613898"/>
            </a:xfrm>
            <a:custGeom>
              <a:avLst/>
              <a:gdLst/>
              <a:ahLst/>
              <a:cxnLst/>
              <a:rect r="r" b="b" t="t" l="l"/>
              <a:pathLst>
                <a:path h="10613898" w="20780502">
                  <a:moveTo>
                    <a:pt x="0" y="0"/>
                  </a:moveTo>
                  <a:lnTo>
                    <a:pt x="20780502" y="0"/>
                  </a:lnTo>
                  <a:lnTo>
                    <a:pt x="20780502" y="10613898"/>
                  </a:lnTo>
                  <a:lnTo>
                    <a:pt x="0" y="106138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32" t="0" r="-15532" b="0"/>
              </a:stretch>
            </a:blipFill>
            <a:ln w="114300" cap="sq">
              <a:solidFill>
                <a:srgbClr val="266F8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486699" y="2982859"/>
            <a:ext cx="17801301" cy="4321273"/>
            <a:chOff x="0" y="0"/>
            <a:chExt cx="23735068" cy="57616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735030" cy="5761736"/>
            </a:xfrm>
            <a:custGeom>
              <a:avLst/>
              <a:gdLst/>
              <a:ahLst/>
              <a:cxnLst/>
              <a:rect r="r" b="b" t="t" l="l"/>
              <a:pathLst>
                <a:path h="5761736" w="23735030">
                  <a:moveTo>
                    <a:pt x="0" y="0"/>
                  </a:moveTo>
                  <a:lnTo>
                    <a:pt x="23735030" y="0"/>
                  </a:lnTo>
                  <a:lnTo>
                    <a:pt x="23735030" y="5761736"/>
                  </a:lnTo>
                  <a:lnTo>
                    <a:pt x="0" y="57617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5400000">
            <a:off x="-922840" y="9498712"/>
            <a:ext cx="2186854" cy="3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56C8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8613057"/>
            <a:ext cx="280216" cy="1548584"/>
            <a:chOff x="0" y="0"/>
            <a:chExt cx="373621" cy="20647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3634" cy="2064766"/>
            </a:xfrm>
            <a:custGeom>
              <a:avLst/>
              <a:gdLst/>
              <a:ahLst/>
              <a:cxnLst/>
              <a:rect r="r" b="b" t="t" l="l"/>
              <a:pathLst>
                <a:path h="2064766" w="373634">
                  <a:moveTo>
                    <a:pt x="0" y="0"/>
                  </a:moveTo>
                  <a:lnTo>
                    <a:pt x="373634" y="0"/>
                  </a:lnTo>
                  <a:lnTo>
                    <a:pt x="373634" y="2064766"/>
                  </a:lnTo>
                  <a:lnTo>
                    <a:pt x="0" y="206476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2359744" y="2138516"/>
          <a:ext cx="13525500" cy="6877050"/>
        </p:xfrm>
        <a:graphic>
          <a:graphicData uri="http://schemas.openxmlformats.org/drawingml/2006/table">
            <a:tbl>
              <a:tblPr/>
              <a:tblGrid>
                <a:gridCol w="1960703"/>
                <a:gridCol w="3788470"/>
                <a:gridCol w="1844386"/>
                <a:gridCol w="1495445"/>
                <a:gridCol w="1844386"/>
                <a:gridCol w="2592110"/>
              </a:tblGrid>
              <a:tr h="244641">
                <a:tc gridSpan="6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Politeknik Semen Indonesiaj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Politeknik Semen Indonesiaj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Politeknik Semen Indonesiaj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Politeknik Semen Indonesiaj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Politeknik Semen Indonesiaj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Politeknik Semen Indonesiaj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44641">
                <a:tc gridSpan="6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Rincian Uang Badan Eksekutif Mahasiswa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Rincian Uang Badan Eksekutif Mahasiswa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Rincian Uang Badan Eksekutif Mahasiswa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Rincian Uang Badan Eksekutif Mahasiswa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Rincian Uang Badan Eksekutif Mahasiswa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Rincian Uang Badan Eksekutif Mahasiswa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44641">
                <a:tc gridSpan="6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Tahun 2026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Tahun 2026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Tahun 2026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Tahun 2026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Tahun 2026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Tahun 2026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4464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4464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Tanggal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Keterangan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Debet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Kredit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Saldo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Keterangan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478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 Juli 2025</a:t>
                      </a:r>
                      <a:endParaRPr lang="en-US" sz="1100"/>
                    </a:p>
                  </a:txBody>
                  <a:tcPr marL="5426" marR="5426" marT="5426" marB="5426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Penerimaan Uang - 01 Juli 2025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5.000.000,00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5.000.000,00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Saldo Awal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478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05 Juli 2025</a:t>
                      </a:r>
                      <a:endParaRPr lang="en-US" sz="1100"/>
                    </a:p>
                  </a:txBody>
                  <a:tcPr marL="5426" marR="5426" marT="5426" marB="5426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Pembayaran Printer - 05 Juli 2025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500.000,00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4.500.000,00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Inventaris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4464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5426" marR="5426" marT="5426" marB="5426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4464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4464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4784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Cash On Hand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4.500.000,00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4464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0,00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4464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4464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4464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708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                100.000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3.200.000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708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                   50.000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1.050.000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708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                   20.000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100.000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708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                   10.000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100.000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708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                     5.000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30.000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708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                     2.000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20.000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708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                     1.000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-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708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                        500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-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708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                        200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-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708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                               100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          -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4464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4464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4.500.000 </a:t>
                      </a: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5426" marR="5426" marT="5426" marB="5426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</a:tbl>
          </a:graphicData>
        </a:graphic>
      </p:graphicFrame>
      <p:sp>
        <p:nvSpPr>
          <p:cNvPr name="TextBox 11" id="11"/>
          <p:cNvSpPr txBox="true"/>
          <p:nvPr/>
        </p:nvSpPr>
        <p:spPr>
          <a:xfrm rot="0">
            <a:off x="1605486" y="1506712"/>
            <a:ext cx="8936679" cy="71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Pencatatan / Jurnal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477729" y="2271255"/>
            <a:ext cx="1755057" cy="781669"/>
            <a:chOff x="0" y="0"/>
            <a:chExt cx="2340077" cy="104222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40102" cy="1042162"/>
            </a:xfrm>
            <a:custGeom>
              <a:avLst/>
              <a:gdLst/>
              <a:ahLst/>
              <a:cxnLst/>
              <a:rect r="r" b="b" t="t" l="l"/>
              <a:pathLst>
                <a:path h="1042162" w="2340102">
                  <a:moveTo>
                    <a:pt x="0" y="0"/>
                  </a:moveTo>
                  <a:lnTo>
                    <a:pt x="2340102" y="0"/>
                  </a:lnTo>
                  <a:lnTo>
                    <a:pt x="2340102" y="1042162"/>
                  </a:lnTo>
                  <a:lnTo>
                    <a:pt x="0" y="10421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978" r="1" b="-13984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78992" y="9792462"/>
            <a:ext cx="4237082" cy="25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Politeknik Semen Indonesia • Orientasi Keuangan Mahasiswa Baru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922840" y="9498712"/>
            <a:ext cx="2186854" cy="3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43949" y="1314450"/>
            <a:ext cx="15585357" cy="7960443"/>
            <a:chOff x="0" y="0"/>
            <a:chExt cx="20780477" cy="106139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80502" cy="10613898"/>
            </a:xfrm>
            <a:custGeom>
              <a:avLst/>
              <a:gdLst/>
              <a:ahLst/>
              <a:cxnLst/>
              <a:rect r="r" b="b" t="t" l="l"/>
              <a:pathLst>
                <a:path h="10613898" w="20780502">
                  <a:moveTo>
                    <a:pt x="0" y="0"/>
                  </a:moveTo>
                  <a:lnTo>
                    <a:pt x="20780502" y="0"/>
                  </a:lnTo>
                  <a:lnTo>
                    <a:pt x="20780502" y="10613898"/>
                  </a:lnTo>
                  <a:lnTo>
                    <a:pt x="0" y="106138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32" t="0" r="-15532" b="0"/>
              </a:stretch>
            </a:blipFill>
            <a:ln w="114300" cap="sq">
              <a:solidFill>
                <a:srgbClr val="266F8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486699" y="2982859"/>
            <a:ext cx="17801301" cy="4321273"/>
            <a:chOff x="0" y="0"/>
            <a:chExt cx="23735068" cy="57616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735030" cy="5761736"/>
            </a:xfrm>
            <a:custGeom>
              <a:avLst/>
              <a:gdLst/>
              <a:ahLst/>
              <a:cxnLst/>
              <a:rect r="r" b="b" t="t" l="l"/>
              <a:pathLst>
                <a:path h="5761736" w="23735030">
                  <a:moveTo>
                    <a:pt x="0" y="0"/>
                  </a:moveTo>
                  <a:lnTo>
                    <a:pt x="23735030" y="0"/>
                  </a:lnTo>
                  <a:lnTo>
                    <a:pt x="23735030" y="5761736"/>
                  </a:lnTo>
                  <a:lnTo>
                    <a:pt x="0" y="57617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5400000">
            <a:off x="-922840" y="9498712"/>
            <a:ext cx="2186854" cy="3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56C8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8613057"/>
            <a:ext cx="280216" cy="1548584"/>
            <a:chOff x="0" y="0"/>
            <a:chExt cx="373621" cy="20647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3634" cy="2064766"/>
            </a:xfrm>
            <a:custGeom>
              <a:avLst/>
              <a:gdLst/>
              <a:ahLst/>
              <a:cxnLst/>
              <a:rect r="r" b="b" t="t" l="l"/>
              <a:pathLst>
                <a:path h="2064766" w="373634">
                  <a:moveTo>
                    <a:pt x="0" y="0"/>
                  </a:moveTo>
                  <a:lnTo>
                    <a:pt x="373634" y="0"/>
                  </a:lnTo>
                  <a:lnTo>
                    <a:pt x="373634" y="2064766"/>
                  </a:lnTo>
                  <a:lnTo>
                    <a:pt x="0" y="206476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93466" y="492947"/>
            <a:ext cx="8936679" cy="62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7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Laporan</a:t>
            </a:r>
          </a:p>
        </p:txBody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5407509" y="1430592"/>
          <a:ext cx="7448550" cy="7772400"/>
        </p:xfrm>
        <a:graphic>
          <a:graphicData uri="http://schemas.openxmlformats.org/drawingml/2006/table">
            <a:tbl>
              <a:tblPr/>
              <a:tblGrid>
                <a:gridCol w="408779"/>
                <a:gridCol w="2753875"/>
                <a:gridCol w="1656629"/>
                <a:gridCol w="2629267"/>
              </a:tblGrid>
              <a:tr h="228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 gridSpan="4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POLITEKNIK SEMEN INDONESIA 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POLITEKNIK SEMEN INDONESIA 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POLITEKNIK SEMEN INDONESIA 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POLITEKNIK SEMEN INDONESIA 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 gridSpan="4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LAPORAN KEUANGAN BADAN EKSEKUTIF MAHASISWA 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LAPORAN KEUANGAN BADAN EKSEKUTIF MAHASISWA 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LAPORAN KEUANGAN BADAN EKSEKUTIF MAHASISWA 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LAPORAN KEUANGAN BADAN EKSEKUTIF MAHASISWA 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 gridSpan="4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TAHUN 2026 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TAHUN 2026 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TAHUN 2026 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TAHUN 2026 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No</a:t>
                      </a:r>
                      <a:endParaRPr lang="en-US" sz="1100"/>
                    </a:p>
                  </a:txBody>
                  <a:tcPr marL="12742" marR="12742" marT="12742" marB="1274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Keterangan</a:t>
                      </a:r>
                      <a:endParaRPr lang="en-US" sz="1100"/>
                    </a:p>
                  </a:txBody>
                  <a:tcPr marL="12742" marR="12742" marT="12742" marB="1274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Jumlah </a:t>
                      </a:r>
                      <a:endParaRPr lang="en-US" sz="1100"/>
                    </a:p>
                  </a:txBody>
                  <a:tcPr marL="12742" marR="12742" marT="12742" marB="1274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Total </a:t>
                      </a:r>
                      <a:endParaRPr lang="en-US" sz="1100"/>
                    </a:p>
                  </a:txBody>
                  <a:tcPr marL="12742" marR="12742" marT="12742" marB="1274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12742" marR="12742" marT="12742" marB="1274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12742" marR="12742" marT="12742" marB="12742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Investasi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Modal Awal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5.000.000 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Investasi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5.000.000 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Pendapatan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Pendapatan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-   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Biaya Operasional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Printer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500.000 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Total Biaya Operasional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500.000 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Laba Operasional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         500.000 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Cash Flow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Pendapatan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-   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Investasi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5.000.000 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Operasional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500.000 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Cash On Hand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4.500.000 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            -   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 gridSpan="2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Dibuat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Dibuat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Disetujui 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Disetujui 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 gridSpan="2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Bendahara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Bendahara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gridSpan="2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Ketua 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Ketua 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 gridSpan="4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Mengetahui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Mengetahui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Mengetahui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Mengetahui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 gridSpan="4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Kabag Kemahasiswaan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Kabag Kemahasiswaan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Kabag Kemahasiswaan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80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Kabag Kemahasiswaan</a:t>
                      </a: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  <a:tr h="228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2742" marR="12742" marT="12742" marB="12742" anchor="b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3"/>
                    </a:solidFill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5515899" y="1718529"/>
            <a:ext cx="958644" cy="685467"/>
            <a:chOff x="0" y="0"/>
            <a:chExt cx="1278192" cy="9139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78255" cy="913892"/>
            </a:xfrm>
            <a:custGeom>
              <a:avLst/>
              <a:gdLst/>
              <a:ahLst/>
              <a:cxnLst/>
              <a:rect r="r" b="b" t="t" l="l"/>
              <a:pathLst>
                <a:path h="913892" w="1278255">
                  <a:moveTo>
                    <a:pt x="0" y="0"/>
                  </a:moveTo>
                  <a:lnTo>
                    <a:pt x="1278255" y="0"/>
                  </a:lnTo>
                  <a:lnTo>
                    <a:pt x="1278255" y="913892"/>
                  </a:lnTo>
                  <a:lnTo>
                    <a:pt x="0" y="913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733" t="0" r="-12728" b="-6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78992" y="9792462"/>
            <a:ext cx="4237082" cy="25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Politeknik Semen Indonesia • Orientasi Keuangan Mahasiswa Baru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922840" y="9498712"/>
            <a:ext cx="2186854" cy="3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 descr="Imagen que contiene árbol, exterior, escena, camino  Descripción generada automáticamente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66420" r="0" b="-3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329558" cy="10287000"/>
            <a:chOff x="0" y="0"/>
            <a:chExt cx="24439410" cy="137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39372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439372">
                  <a:moveTo>
                    <a:pt x="0" y="0"/>
                  </a:moveTo>
                  <a:lnTo>
                    <a:pt x="24439372" y="0"/>
                  </a:lnTo>
                  <a:lnTo>
                    <a:pt x="24439372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00">
                <a:alpha val="24706"/>
              </a:srgbClr>
            </a:solidFill>
          </p:spPr>
        </p:sp>
      </p:grpSp>
      <p:sp>
        <p:nvSpPr>
          <p:cNvPr name="TextBox 7" id="7"/>
          <p:cNvSpPr txBox="true"/>
          <p:nvPr/>
        </p:nvSpPr>
        <p:spPr>
          <a:xfrm rot="5400000">
            <a:off x="-922840" y="9498712"/>
            <a:ext cx="2186854" cy="3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4583" y="2735132"/>
            <a:ext cx="13843826" cy="168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0"/>
              </a:lnSpc>
            </a:pPr>
            <a:r>
              <a:rPr lang="en-US" sz="11250" spc="-88">
                <a:solidFill>
                  <a:srgbClr val="FFFFFF"/>
                </a:solidFill>
                <a:latin typeface="Doulos"/>
                <a:ea typeface="Doulos"/>
                <a:cs typeface="Doulos"/>
                <a:sym typeface="Doulos"/>
              </a:rPr>
              <a:t>Berusahalah Lebih Baik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993674" y="5179676"/>
            <a:ext cx="10421245" cy="2930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0"/>
              </a:lnSpc>
            </a:pPr>
            <a:r>
              <a:rPr lang="en-US" sz="17250" i="true">
                <a:solidFill>
                  <a:srgbClr val="7EC0DB"/>
                </a:solidFill>
                <a:latin typeface="ITC Edwardian Script"/>
                <a:ea typeface="ITC Edwardian Script"/>
                <a:cs typeface="ITC Edwardian Script"/>
                <a:sym typeface="ITC Edwardian Script"/>
              </a:rPr>
              <a:t>Tanpa Berisik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0" y="8598313"/>
            <a:ext cx="265471" cy="1519085"/>
            <a:chOff x="0" y="0"/>
            <a:chExt cx="353962" cy="20254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3949" cy="2025396"/>
            </a:xfrm>
            <a:custGeom>
              <a:avLst/>
              <a:gdLst/>
              <a:ahLst/>
              <a:cxnLst/>
              <a:rect r="r" b="b" t="t" l="l"/>
              <a:pathLst>
                <a:path h="2025396" w="353949">
                  <a:moveTo>
                    <a:pt x="0" y="0"/>
                  </a:moveTo>
                  <a:lnTo>
                    <a:pt x="353949" y="0"/>
                  </a:lnTo>
                  <a:lnTo>
                    <a:pt x="353949" y="2025396"/>
                  </a:lnTo>
                  <a:lnTo>
                    <a:pt x="0" y="2025396"/>
                  </a:lnTo>
                  <a:close/>
                </a:path>
              </a:pathLst>
            </a:custGeom>
            <a:solidFill>
              <a:srgbClr val="0D0D0D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78992" y="9792462"/>
            <a:ext cx="4237082" cy="25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Politeknik Semen Indonesia • Orientasi Keuangan Mahasiswa Baru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5400000">
            <a:off x="-922840" y="9498712"/>
            <a:ext cx="2186854" cy="3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43949" y="1314450"/>
            <a:ext cx="15585357" cy="7960443"/>
            <a:chOff x="0" y="0"/>
            <a:chExt cx="20780477" cy="106139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80502" cy="10613898"/>
            </a:xfrm>
            <a:custGeom>
              <a:avLst/>
              <a:gdLst/>
              <a:ahLst/>
              <a:cxnLst/>
              <a:rect r="r" b="b" t="t" l="l"/>
              <a:pathLst>
                <a:path h="10613898" w="20780502">
                  <a:moveTo>
                    <a:pt x="0" y="0"/>
                  </a:moveTo>
                  <a:lnTo>
                    <a:pt x="20780502" y="0"/>
                  </a:lnTo>
                  <a:lnTo>
                    <a:pt x="20780502" y="10613898"/>
                  </a:lnTo>
                  <a:lnTo>
                    <a:pt x="0" y="106138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532" t="0" r="-15532" b="0"/>
              </a:stretch>
            </a:blipFill>
            <a:ln w="114300" cap="sq">
              <a:solidFill>
                <a:srgbClr val="266F8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486699" y="2982859"/>
            <a:ext cx="17801301" cy="4321273"/>
            <a:chOff x="0" y="0"/>
            <a:chExt cx="23735068" cy="57616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735030" cy="5761736"/>
            </a:xfrm>
            <a:custGeom>
              <a:avLst/>
              <a:gdLst/>
              <a:ahLst/>
              <a:cxnLst/>
              <a:rect r="r" b="b" t="t" l="l"/>
              <a:pathLst>
                <a:path h="5761736" w="23735030">
                  <a:moveTo>
                    <a:pt x="0" y="0"/>
                  </a:moveTo>
                  <a:lnTo>
                    <a:pt x="23735030" y="0"/>
                  </a:lnTo>
                  <a:lnTo>
                    <a:pt x="23735030" y="5761736"/>
                  </a:lnTo>
                  <a:lnTo>
                    <a:pt x="0" y="57617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5400000">
            <a:off x="-922840" y="9498712"/>
            <a:ext cx="2186854" cy="386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256C87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736869" y="4261980"/>
            <a:ext cx="5874582" cy="194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b="true" sz="12000" i="true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Thank you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0" y="8613057"/>
            <a:ext cx="280216" cy="1548584"/>
            <a:chOff x="0" y="0"/>
            <a:chExt cx="373621" cy="20647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73634" cy="2064766"/>
            </a:xfrm>
            <a:custGeom>
              <a:avLst/>
              <a:gdLst/>
              <a:ahLst/>
              <a:cxnLst/>
              <a:rect r="r" b="b" t="t" l="l"/>
              <a:pathLst>
                <a:path h="2064766" w="373634">
                  <a:moveTo>
                    <a:pt x="0" y="0"/>
                  </a:moveTo>
                  <a:lnTo>
                    <a:pt x="373634" y="0"/>
                  </a:lnTo>
                  <a:lnTo>
                    <a:pt x="373634" y="2064766"/>
                  </a:lnTo>
                  <a:lnTo>
                    <a:pt x="0" y="206476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78992" y="9792462"/>
            <a:ext cx="4237082" cy="25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646E7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Politeknik Semen Indonesia • Orientasi Keuangan Mahasiswa Baru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DAHVgR3L-Dk</dc:identifier>
  <dcterms:modified xsi:type="dcterms:W3CDTF">2011-08-01T06:04:30Z</dcterms:modified>
  <cp:revision>1</cp:revision>
  <dc:title>2026 - Pra PKKMB.pptx</dc:title>
</cp:coreProperties>
</file>